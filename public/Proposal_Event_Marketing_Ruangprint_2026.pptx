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1.xml" ContentType="application/vnd.openxmlformats-officedocument.drawingml.char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  <p:sldId id="266" r:id="rId11"/>
    <p:sldId id="267" r:id="rId12"/>
    <p:sldId id="269" r:id="rId13"/>
    <p:sldId id="271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3" d="100"/>
          <a:sy n="83" d="100"/>
        </p:scale>
        <p:origin x="658" y="-39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ID Order</c:v>
                </c:pt>
              </c:strCache>
            </c:strRef>
          </c:tx>
          <c:spPr>
            <a:solidFill>
              <a:srgbClr val="13223F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400" b="1" i="0" u="none" strike="noStrike">
                    <a:solidFill>
                      <a:srgbClr val="13223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Mei</c:v>
                </c:pt>
                <c:pt idx="1">
                  <c:v>Juni</c:v>
                </c:pt>
                <c:pt idx="2">
                  <c:v>Target Agu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271</c:v>
                </c:pt>
                <c:pt idx="1">
                  <c:v>542</c:v>
                </c:pt>
                <c:pt idx="2">
                  <c:v>328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BA9-4E91-BC99-06BB1CEF5F97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55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A748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49205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322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-1463040"/>
            <a:ext cx="4206240" cy="4206240"/>
          </a:xfrm>
          <a:prstGeom prst="ellipse">
            <a:avLst/>
          </a:prstGeom>
          <a:solidFill>
            <a:srgbClr val="1E3A6B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4206240"/>
            <a:ext cx="3291840" cy="3291840"/>
          </a:xfrm>
          <a:prstGeom prst="ellipse">
            <a:avLst/>
          </a:prstGeom>
          <a:solidFill>
            <a:srgbClr val="F5B31E">
              <a:alpha val="2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1188720" y="4572000"/>
            <a:ext cx="2926080" cy="2926080"/>
          </a:xfrm>
          <a:prstGeom prst="ellipse">
            <a:avLst/>
          </a:prstGeom>
          <a:solidFill>
            <a:srgbClr val="1E3A6B">
              <a:alpha val="5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5486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kern="0" spc="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RUANG</a:t>
            </a:r>
            <a:r>
              <a:rPr lang="en-US" sz="1300" b="1" kern="0" spc="100" dirty="0">
                <a:solidFill>
                  <a:srgbClr val="F5B3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PRINT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77240" y="18745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500" dirty="0">
                <a:solidFill>
                  <a:srgbClr val="F5B3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PROPOSAL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49808" y="2240280"/>
            <a:ext cx="96012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54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Riset Event Marketing 2026</a:t>
            </a:r>
            <a:endParaRPr lang="en-US" sz="5200" dirty="0"/>
          </a:p>
        </p:txBody>
      </p:sp>
      <p:sp>
        <p:nvSpPr>
          <p:cNvPr id="8" name="Text 6"/>
          <p:cNvSpPr/>
          <p:nvPr/>
        </p:nvSpPr>
        <p:spPr>
          <a:xfrm>
            <a:off x="777240" y="402336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600" dirty="0">
                <a:solidFill>
                  <a:srgbClr val="C7D2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Analisis, prioritisasi, dan rekomendasi event yang paling efektif untuk mendorong pertumbuhan aplikasi &amp; omzet Ruangprint.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822960" y="5257800"/>
            <a:ext cx="0" cy="731520"/>
          </a:xfrm>
          <a:prstGeom prst="line">
            <a:avLst/>
          </a:prstGeom>
          <a:noFill/>
          <a:ln w="31750">
            <a:solidFill>
              <a:srgbClr val="F5B31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51560" y="521208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FA0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Disusun oleh
</a:t>
            </a:r>
            <a:endParaRPr lang="en-US" sz="1100" dirty="0"/>
          </a:p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Falka Derizqia  •  Anggi Awangsyah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686800" y="59893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FA0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Divisi Marketing Communication  | 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88A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LATAR BELAKANG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322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Kenapa Riset Ini Dibuat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6002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500" dirty="0">
                <a:solidFill>
                  <a:srgbClr val="1B25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Ruangprint menjalankan beragam event marketing sepanjang tahun, namun belum ada dasar data yang jelas untuk menilai event mana yang benar-benar mendatangkan hasil. Riset ini menyusun kerangka evaluasi agar keputusan event berbasis data, bukan asumsi.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40080" y="2697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32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Tiga tujuan utama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3154680"/>
            <a:ext cx="3611880" cy="2331720"/>
          </a:xfrm>
          <a:prstGeom prst="roundRect">
            <a:avLst>
              <a:gd name="adj" fmla="val 4706"/>
            </a:avLst>
          </a:prstGeom>
          <a:solidFill>
            <a:srgbClr val="FBF4E4"/>
          </a:solidFill>
          <a:ln/>
          <a:effectLst>
            <a:outerShdw blurRad="101600" dist="38100" dir="5400000" algn="bl" rotWithShape="0">
              <a:srgbClr val="9AA0AD">
                <a:alpha val="14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60120" y="3520440"/>
            <a:ext cx="822960" cy="822960"/>
          </a:xfrm>
          <a:prstGeom prst="ellipse">
            <a:avLst/>
          </a:prstGeom>
          <a:solidFill>
            <a:srgbClr val="13223F"/>
          </a:solidFill>
          <a:ln/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9576" y="3739896"/>
            <a:ext cx="384048" cy="38404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960120" y="448056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322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Menganalisa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960120" y="4846320"/>
            <a:ext cx="2971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1B25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Menilai efektivitas tiap event lewat data &amp; KPI yang terukur.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4471416" y="3154680"/>
            <a:ext cx="3611880" cy="2331720"/>
          </a:xfrm>
          <a:prstGeom prst="roundRect">
            <a:avLst>
              <a:gd name="adj" fmla="val 4706"/>
            </a:avLst>
          </a:prstGeom>
          <a:solidFill>
            <a:srgbClr val="FBF4E4"/>
          </a:solidFill>
          <a:ln/>
          <a:effectLst>
            <a:outerShdw blurRad="101600" dist="38100" dir="5400000" algn="bl" rotWithShape="0">
              <a:srgbClr val="9AA0AD">
                <a:alpha val="14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791456" y="3520440"/>
            <a:ext cx="822960" cy="822960"/>
          </a:xfrm>
          <a:prstGeom prst="ellipse">
            <a:avLst/>
          </a:prstGeom>
          <a:solidFill>
            <a:srgbClr val="13223F"/>
          </a:solidFill>
          <a:ln/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0912" y="3739896"/>
            <a:ext cx="384048" cy="38404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791456" y="448056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322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Menjalankan</a:t>
            </a:r>
            <a:endParaRPr lang="en-US" sz="1800" dirty="0"/>
          </a:p>
        </p:txBody>
      </p:sp>
      <p:sp>
        <p:nvSpPr>
          <p:cNvPr id="15" name="Text 11"/>
          <p:cNvSpPr/>
          <p:nvPr/>
        </p:nvSpPr>
        <p:spPr>
          <a:xfrm>
            <a:off x="4791456" y="4846320"/>
            <a:ext cx="2971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1B25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Memprioritaskan event yang terbukti berdampak untuk dieksekusi.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8302752" y="3154680"/>
            <a:ext cx="3611880" cy="2331720"/>
          </a:xfrm>
          <a:prstGeom prst="roundRect">
            <a:avLst>
              <a:gd name="adj" fmla="val 4706"/>
            </a:avLst>
          </a:prstGeom>
          <a:solidFill>
            <a:srgbClr val="FBF4E4"/>
          </a:solidFill>
          <a:ln/>
          <a:effectLst>
            <a:outerShdw blurRad="101600" dist="38100" dir="5400000" algn="bl" rotWithShape="0">
              <a:srgbClr val="9AA0AD">
                <a:alpha val="14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8622792" y="3520440"/>
            <a:ext cx="822960" cy="822960"/>
          </a:xfrm>
          <a:prstGeom prst="ellipse">
            <a:avLst/>
          </a:prstGeom>
          <a:solidFill>
            <a:srgbClr val="13223F"/>
          </a:solidFill>
          <a:ln/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42248" y="3739896"/>
            <a:ext cx="384048" cy="38404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622792" y="448056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322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Mengeliminasi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8622792" y="4846320"/>
            <a:ext cx="2971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1B25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Menghentikan event yang biayanya tinggi tapi hasilnya rendah.</a:t>
            </a:r>
            <a:endParaRPr lang="en-US" sz="1250" dirty="0"/>
          </a:p>
        </p:txBody>
      </p:sp>
      <p:sp>
        <p:nvSpPr>
          <p:cNvPr id="21" name="Text 16"/>
          <p:cNvSpPr/>
          <p:nvPr/>
        </p:nvSpPr>
        <p:spPr>
          <a:xfrm>
            <a:off x="10789920" y="63550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kern="0" spc="100" dirty="0">
                <a:solidFill>
                  <a:srgbClr val="132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RUANG</a:t>
            </a:r>
            <a:r>
              <a:rPr lang="en-US" sz="1300" b="1" kern="0" spc="100" dirty="0">
                <a:solidFill>
                  <a:srgbClr val="F5B3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PRINT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88A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BAB 1 — ANALISIS TARGET MARKET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322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Siapa &amp; Di Mana Pasar Kita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6583680" cy="4480560"/>
          </a:xfrm>
          <a:prstGeom prst="roundRect">
            <a:avLst>
              <a:gd name="adj" fmla="val 2041"/>
            </a:avLst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  <a:effectLst>
            <a:outerShdw blurRad="101600" dist="38100" dir="5400000" algn="bl" rotWithShape="0">
              <a:srgbClr val="9AA0AD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05840" y="1965960"/>
            <a:ext cx="640080" cy="640080"/>
          </a:xfrm>
          <a:prstGeom prst="ellipse">
            <a:avLst/>
          </a:prstGeom>
          <a:solidFill>
            <a:srgbClr val="F4E9D0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1288" y="2121408"/>
            <a:ext cx="329184" cy="32918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1984248"/>
            <a:ext cx="5212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322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Segmentasi Demografis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1051560" y="2926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C88A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UMUR &amp; GENDER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1051560" y="3218688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1B25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 – 45 tahun</a:t>
            </a:r>
            <a:endParaRPr lang="en-US" sz="12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1B25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Pria &amp; Wanita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4069080" y="292608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C88A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PROFESI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4069080" y="3218688"/>
            <a:ext cx="2834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1B25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Mahasiswa</a:t>
            </a:r>
            <a:endParaRPr lang="en-US" sz="12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1B25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UMKM &amp; Freelancer</a:t>
            </a:r>
            <a:endParaRPr lang="en-US" sz="12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1B25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Perusahaan &amp; EO</a:t>
            </a:r>
            <a:endParaRPr lang="en-US" sz="12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1B25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Sekolah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7452360" y="1600200"/>
            <a:ext cx="4069080" cy="4480560"/>
          </a:xfrm>
          <a:prstGeom prst="roundRect">
            <a:avLst>
              <a:gd name="adj" fmla="val 2247"/>
            </a:avLst>
          </a:prstGeom>
          <a:solidFill>
            <a:srgbClr val="13223F"/>
          </a:solidFill>
          <a:ln/>
          <a:effectLst>
            <a:outerShdw blurRad="101600" dist="38100" dir="5400000" algn="bl" rotWithShape="0">
              <a:srgbClr val="9AA0AD">
                <a:alpha val="16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7818120" y="1965960"/>
            <a:ext cx="640080" cy="640080"/>
          </a:xfrm>
          <a:prstGeom prst="ellipse">
            <a:avLst/>
          </a:prstGeom>
          <a:solidFill>
            <a:srgbClr val="F5B31E"/>
          </a:solidFill>
          <a:ln/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91856" y="2139696"/>
            <a:ext cx="292608" cy="292608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8595360" y="1984248"/>
            <a:ext cx="2788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Segmentasi Geografis</a:t>
            </a:r>
            <a:endParaRPr lang="en-US" sz="1800" dirty="0"/>
          </a:p>
        </p:txBody>
      </p:sp>
      <p:sp>
        <p:nvSpPr>
          <p:cNvPr id="16" name="Text 12"/>
          <p:cNvSpPr/>
          <p:nvPr/>
        </p:nvSpPr>
        <p:spPr>
          <a:xfrm>
            <a:off x="7863840" y="288036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F5B3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Jangkauan Jabodetabek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7863840" y="3282696"/>
            <a:ext cx="274320" cy="274320"/>
          </a:xfrm>
          <a:prstGeom prst="ellipse">
            <a:avLst/>
          </a:prstGeom>
          <a:solidFill>
            <a:srgbClr val="F5B31E"/>
          </a:solidFill>
          <a:ln/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27848" y="3346704"/>
            <a:ext cx="146304" cy="146304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275320" y="3246120"/>
            <a:ext cx="2880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Tangerang</a:t>
            </a:r>
            <a:endParaRPr lang="en-US" sz="1400" dirty="0"/>
          </a:p>
        </p:txBody>
      </p:sp>
      <p:sp>
        <p:nvSpPr>
          <p:cNvPr id="20" name="Shape 15"/>
          <p:cNvSpPr/>
          <p:nvPr/>
        </p:nvSpPr>
        <p:spPr>
          <a:xfrm>
            <a:off x="7863840" y="3794760"/>
            <a:ext cx="274320" cy="274320"/>
          </a:xfrm>
          <a:prstGeom prst="ellipse">
            <a:avLst/>
          </a:prstGeom>
          <a:solidFill>
            <a:srgbClr val="F5B31E"/>
          </a:solidFill>
          <a:ln/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27848" y="3858768"/>
            <a:ext cx="146304" cy="14630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8275320" y="3758184"/>
            <a:ext cx="2880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Jakarta</a:t>
            </a:r>
            <a:endParaRPr lang="en-US" sz="1400" dirty="0"/>
          </a:p>
        </p:txBody>
      </p:sp>
      <p:sp>
        <p:nvSpPr>
          <p:cNvPr id="23" name="Shape 17"/>
          <p:cNvSpPr/>
          <p:nvPr/>
        </p:nvSpPr>
        <p:spPr>
          <a:xfrm>
            <a:off x="7863840" y="4306824"/>
            <a:ext cx="274320" cy="274320"/>
          </a:xfrm>
          <a:prstGeom prst="ellipse">
            <a:avLst/>
          </a:prstGeom>
          <a:solidFill>
            <a:srgbClr val="F5B31E"/>
          </a:solidFill>
          <a:ln/>
        </p:spPr>
      </p:sp>
      <p:pic>
        <p:nvPicPr>
          <p:cNvPr id="24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27848" y="4370832"/>
            <a:ext cx="146304" cy="146304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8275320" y="4270248"/>
            <a:ext cx="2880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Bekasi</a:t>
            </a:r>
            <a:endParaRPr lang="en-US" sz="1400" dirty="0"/>
          </a:p>
        </p:txBody>
      </p:sp>
      <p:sp>
        <p:nvSpPr>
          <p:cNvPr id="26" name="Shape 19"/>
          <p:cNvSpPr/>
          <p:nvPr/>
        </p:nvSpPr>
        <p:spPr>
          <a:xfrm>
            <a:off x="7863840" y="4818888"/>
            <a:ext cx="274320" cy="274320"/>
          </a:xfrm>
          <a:prstGeom prst="ellipse">
            <a:avLst/>
          </a:prstGeom>
          <a:solidFill>
            <a:srgbClr val="F5B31E"/>
          </a:solidFill>
          <a:ln/>
        </p:spPr>
      </p:sp>
      <p:pic>
        <p:nvPicPr>
          <p:cNvPr id="27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27848" y="4882896"/>
            <a:ext cx="146304" cy="146304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8275320" y="4782312"/>
            <a:ext cx="2880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Depok</a:t>
            </a:r>
            <a:endParaRPr lang="en-US" sz="1400" dirty="0"/>
          </a:p>
        </p:txBody>
      </p:sp>
      <p:sp>
        <p:nvSpPr>
          <p:cNvPr id="29" name="Shape 21"/>
          <p:cNvSpPr/>
          <p:nvPr/>
        </p:nvSpPr>
        <p:spPr>
          <a:xfrm>
            <a:off x="7863840" y="5330952"/>
            <a:ext cx="274320" cy="274320"/>
          </a:xfrm>
          <a:prstGeom prst="ellipse">
            <a:avLst/>
          </a:prstGeom>
          <a:solidFill>
            <a:srgbClr val="F5B31E"/>
          </a:solidFill>
          <a:ln/>
        </p:spPr>
      </p:sp>
      <p:pic>
        <p:nvPicPr>
          <p:cNvPr id="30" name="Image 6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27848" y="5394960"/>
            <a:ext cx="146304" cy="146304"/>
          </a:xfrm>
          <a:prstGeom prst="rect">
            <a:avLst/>
          </a:prstGeom>
        </p:spPr>
      </p:pic>
      <p:sp>
        <p:nvSpPr>
          <p:cNvPr id="31" name="Text 22"/>
          <p:cNvSpPr/>
          <p:nvPr/>
        </p:nvSpPr>
        <p:spPr>
          <a:xfrm>
            <a:off x="8275320" y="5294376"/>
            <a:ext cx="2880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Bogor</a:t>
            </a:r>
            <a:endParaRPr lang="en-US" sz="1400" dirty="0"/>
          </a:p>
        </p:txBody>
      </p:sp>
      <p:sp>
        <p:nvSpPr>
          <p:cNvPr id="32" name="Text 23"/>
          <p:cNvSpPr/>
          <p:nvPr/>
        </p:nvSpPr>
        <p:spPr>
          <a:xfrm>
            <a:off x="10789920" y="63550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kern="0" spc="100" dirty="0">
                <a:solidFill>
                  <a:srgbClr val="132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RUANG</a:t>
            </a:r>
            <a:r>
              <a:rPr lang="en-US" sz="1300" b="1" kern="0" spc="100" dirty="0">
                <a:solidFill>
                  <a:srgbClr val="F5B3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PRINT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88A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BAB 1 — ANALISIS TARGET MARKET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322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Karakter &amp; Perilaku Konsumen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5120640" cy="4480560"/>
          </a:xfrm>
          <a:prstGeom prst="roundRect">
            <a:avLst>
              <a:gd name="adj" fmla="val 2041"/>
            </a:avLst>
          </a:prstGeom>
          <a:solidFill>
            <a:srgbClr val="FBF4E4"/>
          </a:solidFill>
          <a:ln/>
          <a:effectLst>
            <a:outerShdw blurRad="101600" dist="38100" dir="5400000" algn="bl" rotWithShape="0">
              <a:srgbClr val="9AA0AD">
                <a:alpha val="14000"/>
              </a:srgbClr>
            </a:outerShdw>
          </a:effectLst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1288" y="2121408"/>
            <a:ext cx="329184" cy="32918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1984248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322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Segmentasi Psikografis</a:t>
            </a:r>
            <a:endParaRPr lang="en-US" sz="1900" dirty="0"/>
          </a:p>
        </p:txBody>
      </p:sp>
      <p:sp>
        <p:nvSpPr>
          <p:cNvPr id="8" name="Shape 5"/>
          <p:cNvSpPr/>
          <p:nvPr/>
        </p:nvSpPr>
        <p:spPr>
          <a:xfrm>
            <a:off x="1051560" y="3017520"/>
            <a:ext cx="310896" cy="310896"/>
          </a:xfrm>
          <a:prstGeom prst="ellipse">
            <a:avLst/>
          </a:prstGeom>
          <a:solidFill>
            <a:srgbClr val="F5B31E"/>
          </a:solidFill>
          <a:ln/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4712" y="3090672"/>
            <a:ext cx="164592" cy="16459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508760" y="2990088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25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Aktif di media sosial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1051560" y="3675888"/>
            <a:ext cx="310896" cy="310896"/>
          </a:xfrm>
          <a:prstGeom prst="ellipse">
            <a:avLst/>
          </a:prstGeom>
          <a:solidFill>
            <a:srgbClr val="F5B31E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4712" y="3749040"/>
            <a:ext cx="164592" cy="16459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508760" y="3648456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25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Butuh printing cepat</a:t>
            </a:r>
            <a:endParaRPr lang="en-US" sz="1400" dirty="0"/>
          </a:p>
        </p:txBody>
      </p:sp>
      <p:sp>
        <p:nvSpPr>
          <p:cNvPr id="14" name="Shape 9"/>
          <p:cNvSpPr/>
          <p:nvPr/>
        </p:nvSpPr>
        <p:spPr>
          <a:xfrm>
            <a:off x="1051560" y="4334256"/>
            <a:ext cx="310896" cy="310896"/>
          </a:xfrm>
          <a:prstGeom prst="ellipse">
            <a:avLst/>
          </a:prstGeom>
          <a:solidFill>
            <a:srgbClr val="F5B31E"/>
          </a:solidFill>
          <a:ln/>
        </p:spPr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4712" y="4407408"/>
            <a:ext cx="164592" cy="164592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508760" y="4306824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25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Suka promo &amp; harga sensitif</a:t>
            </a:r>
            <a:endParaRPr lang="en-US" sz="1400" dirty="0"/>
          </a:p>
        </p:txBody>
      </p:sp>
      <p:sp>
        <p:nvSpPr>
          <p:cNvPr id="17" name="Shape 11"/>
          <p:cNvSpPr/>
          <p:nvPr/>
        </p:nvSpPr>
        <p:spPr>
          <a:xfrm>
            <a:off x="1051560" y="4992624"/>
            <a:ext cx="310896" cy="310896"/>
          </a:xfrm>
          <a:prstGeom prst="ellipse">
            <a:avLst/>
          </a:prstGeom>
          <a:solidFill>
            <a:srgbClr val="F5B31E"/>
          </a:solidFill>
          <a:ln/>
        </p:spPr>
      </p:sp>
      <p:pic>
        <p:nvPicPr>
          <p:cNvPr id="18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4712" y="5065776"/>
            <a:ext cx="164592" cy="164592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1508760" y="4965192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25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Mengutamakan kualitas</a:t>
            </a:r>
            <a:endParaRPr lang="en-US" sz="1400" dirty="0"/>
          </a:p>
        </p:txBody>
      </p:sp>
      <p:sp>
        <p:nvSpPr>
          <p:cNvPr id="20" name="Shape 13"/>
          <p:cNvSpPr/>
          <p:nvPr/>
        </p:nvSpPr>
        <p:spPr>
          <a:xfrm>
            <a:off x="5989320" y="1600200"/>
            <a:ext cx="5532120" cy="4480560"/>
          </a:xfrm>
          <a:prstGeom prst="roundRect">
            <a:avLst>
              <a:gd name="adj" fmla="val 2041"/>
            </a:avLst>
          </a:prstGeom>
          <a:solidFill>
            <a:srgbClr val="13223F"/>
          </a:solidFill>
          <a:ln/>
          <a:effectLst>
            <a:outerShdw blurRad="101600" dist="38100" dir="5400000" algn="bl" rotWithShape="0">
              <a:srgbClr val="9AA0AD">
                <a:alpha val="16000"/>
              </a:srgbClr>
            </a:outerShdw>
          </a:effectLst>
        </p:spPr>
      </p:sp>
      <p:sp>
        <p:nvSpPr>
          <p:cNvPr id="21" name="Shape 14"/>
          <p:cNvSpPr/>
          <p:nvPr/>
        </p:nvSpPr>
        <p:spPr>
          <a:xfrm>
            <a:off x="6355080" y="1965960"/>
            <a:ext cx="640080" cy="640080"/>
          </a:xfrm>
          <a:prstGeom prst="ellipse">
            <a:avLst/>
          </a:prstGeom>
          <a:solidFill>
            <a:srgbClr val="F5B31E"/>
          </a:solidFill>
          <a:ln/>
        </p:spPr>
      </p:sp>
      <p:pic>
        <p:nvPicPr>
          <p:cNvPr id="22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28816" y="2139696"/>
            <a:ext cx="292608" cy="292608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7132320" y="1984248"/>
            <a:ext cx="4251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Perilaku Konsumen</a:t>
            </a:r>
            <a:endParaRPr lang="en-US" sz="1900" dirty="0"/>
          </a:p>
        </p:txBody>
      </p:sp>
      <p:sp>
        <p:nvSpPr>
          <p:cNvPr id="24" name="Shape 16"/>
          <p:cNvSpPr/>
          <p:nvPr/>
        </p:nvSpPr>
        <p:spPr>
          <a:xfrm>
            <a:off x="6400800" y="2971800"/>
            <a:ext cx="347472" cy="347472"/>
          </a:xfrm>
          <a:prstGeom prst="ellipse">
            <a:avLst/>
          </a:prstGeom>
          <a:solidFill>
            <a:srgbClr val="F5B31E"/>
          </a:solidFill>
          <a:ln/>
        </p:spPr>
      </p:sp>
      <p:sp>
        <p:nvSpPr>
          <p:cNvPr id="25" name="Text 17"/>
          <p:cNvSpPr/>
          <p:nvPr/>
        </p:nvSpPr>
        <p:spPr>
          <a:xfrm>
            <a:off x="6400800" y="297180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32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26" name="Text 18"/>
          <p:cNvSpPr/>
          <p:nvPr/>
        </p:nvSpPr>
        <p:spPr>
          <a:xfrm>
            <a:off x="6903720" y="2953512"/>
            <a:ext cx="4251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Cari percetakan lewat Google</a:t>
            </a:r>
            <a:endParaRPr lang="en-US" sz="1350" dirty="0"/>
          </a:p>
        </p:txBody>
      </p:sp>
      <p:sp>
        <p:nvSpPr>
          <p:cNvPr id="27" name="Shape 19"/>
          <p:cNvSpPr/>
          <p:nvPr/>
        </p:nvSpPr>
        <p:spPr>
          <a:xfrm>
            <a:off x="6400800" y="3538728"/>
            <a:ext cx="347472" cy="347472"/>
          </a:xfrm>
          <a:prstGeom prst="ellipse">
            <a:avLst/>
          </a:prstGeom>
          <a:solidFill>
            <a:srgbClr val="F5B31E"/>
          </a:solidFill>
          <a:ln/>
        </p:spPr>
      </p:sp>
      <p:sp>
        <p:nvSpPr>
          <p:cNvPr id="28" name="Text 20"/>
          <p:cNvSpPr/>
          <p:nvPr/>
        </p:nvSpPr>
        <p:spPr>
          <a:xfrm>
            <a:off x="6400800" y="353872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32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29" name="Text 21"/>
          <p:cNvSpPr/>
          <p:nvPr/>
        </p:nvSpPr>
        <p:spPr>
          <a:xfrm>
            <a:off x="6903720" y="3520440"/>
            <a:ext cx="4251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Cek sosial media sebelum beli</a:t>
            </a:r>
            <a:endParaRPr lang="en-US" sz="1350" dirty="0"/>
          </a:p>
        </p:txBody>
      </p:sp>
      <p:sp>
        <p:nvSpPr>
          <p:cNvPr id="30" name="Shape 22"/>
          <p:cNvSpPr/>
          <p:nvPr/>
        </p:nvSpPr>
        <p:spPr>
          <a:xfrm>
            <a:off x="6400800" y="4105656"/>
            <a:ext cx="347472" cy="347472"/>
          </a:xfrm>
          <a:prstGeom prst="ellipse">
            <a:avLst/>
          </a:prstGeom>
          <a:solidFill>
            <a:srgbClr val="F5B31E"/>
          </a:solidFill>
          <a:ln/>
        </p:spPr>
      </p:sp>
      <p:sp>
        <p:nvSpPr>
          <p:cNvPr id="31" name="Text 23"/>
          <p:cNvSpPr/>
          <p:nvPr/>
        </p:nvSpPr>
        <p:spPr>
          <a:xfrm>
            <a:off x="6400800" y="410565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32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32" name="Text 24"/>
          <p:cNvSpPr/>
          <p:nvPr/>
        </p:nvSpPr>
        <p:spPr>
          <a:xfrm>
            <a:off x="6903720" y="4087368"/>
            <a:ext cx="4251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Bandingkan harga antar penyedia</a:t>
            </a:r>
            <a:endParaRPr lang="en-US" sz="1350" dirty="0"/>
          </a:p>
        </p:txBody>
      </p:sp>
      <p:sp>
        <p:nvSpPr>
          <p:cNvPr id="33" name="Shape 25"/>
          <p:cNvSpPr/>
          <p:nvPr/>
        </p:nvSpPr>
        <p:spPr>
          <a:xfrm>
            <a:off x="6400800" y="4672584"/>
            <a:ext cx="347472" cy="347472"/>
          </a:xfrm>
          <a:prstGeom prst="ellipse">
            <a:avLst/>
          </a:prstGeom>
          <a:solidFill>
            <a:srgbClr val="F5B31E"/>
          </a:solidFill>
          <a:ln/>
        </p:spPr>
      </p:sp>
      <p:sp>
        <p:nvSpPr>
          <p:cNvPr id="34" name="Text 26"/>
          <p:cNvSpPr/>
          <p:nvPr/>
        </p:nvSpPr>
        <p:spPr>
          <a:xfrm>
            <a:off x="6400800" y="467258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32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35" name="Text 27"/>
          <p:cNvSpPr/>
          <p:nvPr/>
        </p:nvSpPr>
        <p:spPr>
          <a:xfrm>
            <a:off x="6903720" y="4654296"/>
            <a:ext cx="4251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Baca review pelanggan</a:t>
            </a:r>
            <a:endParaRPr lang="en-US" sz="1350" dirty="0"/>
          </a:p>
        </p:txBody>
      </p:sp>
      <p:sp>
        <p:nvSpPr>
          <p:cNvPr id="36" name="Shape 28"/>
          <p:cNvSpPr/>
          <p:nvPr/>
        </p:nvSpPr>
        <p:spPr>
          <a:xfrm>
            <a:off x="6400800" y="5239512"/>
            <a:ext cx="347472" cy="347472"/>
          </a:xfrm>
          <a:prstGeom prst="ellipse">
            <a:avLst/>
          </a:prstGeom>
          <a:solidFill>
            <a:srgbClr val="F5B31E"/>
          </a:solidFill>
          <a:ln/>
        </p:spPr>
      </p:sp>
      <p:sp>
        <p:nvSpPr>
          <p:cNvPr id="37" name="Text 29"/>
          <p:cNvSpPr/>
          <p:nvPr/>
        </p:nvSpPr>
        <p:spPr>
          <a:xfrm>
            <a:off x="6400800" y="523951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32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400" dirty="0"/>
          </a:p>
        </p:txBody>
      </p:sp>
      <p:sp>
        <p:nvSpPr>
          <p:cNvPr id="38" name="Text 30"/>
          <p:cNvSpPr/>
          <p:nvPr/>
        </p:nvSpPr>
        <p:spPr>
          <a:xfrm>
            <a:off x="6903720" y="5221224"/>
            <a:ext cx="4251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 via WhatsApp / aplikasi</a:t>
            </a:r>
            <a:endParaRPr lang="en-US" sz="1350" dirty="0"/>
          </a:p>
        </p:txBody>
      </p:sp>
      <p:sp>
        <p:nvSpPr>
          <p:cNvPr id="39" name="Text 31"/>
          <p:cNvSpPr/>
          <p:nvPr/>
        </p:nvSpPr>
        <p:spPr>
          <a:xfrm>
            <a:off x="10789920" y="63550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kern="0" spc="100" dirty="0">
                <a:solidFill>
                  <a:srgbClr val="132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RUANG</a:t>
            </a:r>
            <a:r>
              <a:rPr lang="en-US" sz="1300" b="1" kern="0" spc="100" dirty="0">
                <a:solidFill>
                  <a:srgbClr val="F5B3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PRINT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322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5B3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BAB 2 — ANALISIS EVENT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 Event Agustus 2026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400" dirty="0">
                <a:solidFill>
                  <a:srgbClr val="C7D2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Setiap event dianalisa lewat objective, target peserta, KPI, potensi risiko, dan </a:t>
            </a:r>
            <a:r>
              <a:rPr lang="en-US" sz="1400" dirty="0" err="1">
                <a:solidFill>
                  <a:srgbClr val="C7D2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mitigasi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148840"/>
            <a:ext cx="3529584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9AA0AD">
                <a:alpha val="2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60120" y="2468880"/>
            <a:ext cx="658368" cy="658368"/>
          </a:xfrm>
          <a:prstGeom prst="ellipse">
            <a:avLst/>
          </a:prstGeom>
          <a:solidFill>
            <a:srgbClr val="F4E9D0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4712" y="2633472"/>
            <a:ext cx="329184" cy="32918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960120" y="3200400"/>
            <a:ext cx="28895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50" b="1" dirty="0">
                <a:solidFill>
                  <a:srgbClr val="1322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Design Poster</a:t>
            </a:r>
            <a:endParaRPr lang="en-US" sz="1550" dirty="0"/>
          </a:p>
        </p:txBody>
      </p:sp>
      <p:sp>
        <p:nvSpPr>
          <p:cNvPr id="10" name="Text 7"/>
          <p:cNvSpPr/>
          <p:nvPr/>
        </p:nvSpPr>
        <p:spPr>
          <a:xfrm>
            <a:off x="960120" y="3566160"/>
            <a:ext cx="29352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50"/>
              </a:lnSpc>
              <a:buNone/>
            </a:pPr>
            <a:r>
              <a:rPr lang="en-US" sz="1080" dirty="0">
                <a:solidFill>
                  <a:srgbClr val="6A7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Awareness, download app &amp; followers lewat lomba desain.</a:t>
            </a:r>
            <a:endParaRPr lang="en-US" sz="1080" dirty="0"/>
          </a:p>
        </p:txBody>
      </p:sp>
      <p:sp>
        <p:nvSpPr>
          <p:cNvPr id="11" name="Shape 8"/>
          <p:cNvSpPr/>
          <p:nvPr/>
        </p:nvSpPr>
        <p:spPr>
          <a:xfrm>
            <a:off x="4425696" y="2148840"/>
            <a:ext cx="3529584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9AA0AD">
                <a:alpha val="2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745736" y="2468880"/>
            <a:ext cx="658368" cy="658368"/>
          </a:xfrm>
          <a:prstGeom prst="ellipse">
            <a:avLst/>
          </a:prstGeom>
          <a:solidFill>
            <a:srgbClr val="F4E9D0"/>
          </a:solidFill>
          <a:ln/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10328" y="2633472"/>
            <a:ext cx="329184" cy="329184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745736" y="3200400"/>
            <a:ext cx="28895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50" b="1" dirty="0">
                <a:solidFill>
                  <a:srgbClr val="1322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Diskon Khusus</a:t>
            </a:r>
            <a:endParaRPr lang="en-US" sz="1550" dirty="0"/>
          </a:p>
        </p:txBody>
      </p:sp>
      <p:sp>
        <p:nvSpPr>
          <p:cNvPr id="16" name="Text 12"/>
          <p:cNvSpPr/>
          <p:nvPr/>
        </p:nvSpPr>
        <p:spPr>
          <a:xfrm>
            <a:off x="4745736" y="3566160"/>
            <a:ext cx="29352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50"/>
              </a:lnSpc>
              <a:buNone/>
            </a:pPr>
            <a:r>
              <a:rPr lang="en-US" sz="1080" dirty="0">
                <a:solidFill>
                  <a:srgbClr val="6A7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Dorong ID order &amp; pelanggan baru dengan promo terukur.</a:t>
            </a:r>
            <a:endParaRPr lang="en-US" sz="1080" dirty="0"/>
          </a:p>
        </p:txBody>
      </p:sp>
      <p:sp>
        <p:nvSpPr>
          <p:cNvPr id="17" name="Shape 13"/>
          <p:cNvSpPr/>
          <p:nvPr/>
        </p:nvSpPr>
        <p:spPr>
          <a:xfrm>
            <a:off x="8211312" y="2148840"/>
            <a:ext cx="3529584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9AA0AD">
                <a:alpha val="22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8531352" y="2468880"/>
            <a:ext cx="658368" cy="658368"/>
          </a:xfrm>
          <a:prstGeom prst="ellipse">
            <a:avLst/>
          </a:prstGeom>
          <a:solidFill>
            <a:srgbClr val="F4E9D0"/>
          </a:solidFill>
          <a:ln/>
        </p:spPr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95944" y="2633472"/>
            <a:ext cx="329184" cy="329184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8531352" y="3200400"/>
            <a:ext cx="28895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50" b="1" dirty="0">
                <a:solidFill>
                  <a:srgbClr val="1322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Dekorasi Store</a:t>
            </a:r>
            <a:endParaRPr lang="en-US" sz="1550" dirty="0"/>
          </a:p>
        </p:txBody>
      </p:sp>
      <p:sp>
        <p:nvSpPr>
          <p:cNvPr id="22" name="Text 17"/>
          <p:cNvSpPr/>
          <p:nvPr/>
        </p:nvSpPr>
        <p:spPr>
          <a:xfrm>
            <a:off x="8531352" y="3566160"/>
            <a:ext cx="29352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50"/>
              </a:lnSpc>
              <a:buNone/>
            </a:pPr>
            <a:r>
              <a:rPr lang="en-US" sz="1080" dirty="0">
                <a:solidFill>
                  <a:srgbClr val="6A7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Tarik walk-in customer &amp; tingkatkan Google Review cabang.</a:t>
            </a:r>
            <a:endParaRPr lang="en-US" sz="1080" dirty="0"/>
          </a:p>
        </p:txBody>
      </p:sp>
      <p:sp>
        <p:nvSpPr>
          <p:cNvPr id="23" name="Shape 18"/>
          <p:cNvSpPr/>
          <p:nvPr/>
        </p:nvSpPr>
        <p:spPr>
          <a:xfrm>
            <a:off x="640080" y="4370832"/>
            <a:ext cx="3529584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9AA0AD">
                <a:alpha val="22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960120" y="4690872"/>
            <a:ext cx="658368" cy="658368"/>
          </a:xfrm>
          <a:prstGeom prst="ellipse">
            <a:avLst/>
          </a:prstGeom>
          <a:solidFill>
            <a:srgbClr val="F4E9D0"/>
          </a:solidFill>
          <a:ln/>
        </p:spPr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24712" y="4855464"/>
            <a:ext cx="329184" cy="329184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960120" y="5422392"/>
            <a:ext cx="28895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50" b="1" dirty="0">
                <a:solidFill>
                  <a:srgbClr val="1322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Promo Cetak Banner</a:t>
            </a:r>
            <a:endParaRPr lang="en-US" sz="1550" dirty="0"/>
          </a:p>
        </p:txBody>
      </p:sp>
      <p:sp>
        <p:nvSpPr>
          <p:cNvPr id="28" name="Text 22"/>
          <p:cNvSpPr/>
          <p:nvPr/>
        </p:nvSpPr>
        <p:spPr>
          <a:xfrm>
            <a:off x="960120" y="5788152"/>
            <a:ext cx="29352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50"/>
              </a:lnSpc>
              <a:buNone/>
            </a:pPr>
            <a:r>
              <a:rPr lang="en-US" sz="1080" dirty="0">
                <a:solidFill>
                  <a:srgbClr val="6A7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Genjot penjualan banner ke UMKM, EO, sekolah &amp; perusahaan.</a:t>
            </a:r>
            <a:endParaRPr lang="en-US" sz="1080" dirty="0"/>
          </a:p>
        </p:txBody>
      </p:sp>
      <p:pic>
        <p:nvPicPr>
          <p:cNvPr id="3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10328" y="4855464"/>
            <a:ext cx="329184" cy="329184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4745736" y="5422392"/>
            <a:ext cx="28895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50" b="1" dirty="0">
                <a:solidFill>
                  <a:srgbClr val="1322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Pecahin Balon &amp; Lomba Motion</a:t>
            </a:r>
            <a:endParaRPr lang="en-US" sz="15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502920" cy="502920"/>
          </a:xfrm>
          <a:prstGeom prst="ellipse">
            <a:avLst/>
          </a:prstGeom>
          <a:solidFill>
            <a:srgbClr val="F5B31E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32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280160" y="45720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322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Event 01 — Design Poster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280160" y="960120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A7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Lomba desain poster untuk membangun awareness &amp; menarik pengguna baru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1463040"/>
            <a:ext cx="5394960" cy="914400"/>
          </a:xfrm>
          <a:prstGeom prst="roundRect">
            <a:avLst>
              <a:gd name="adj" fmla="val 9000"/>
            </a:avLst>
          </a:prstGeom>
          <a:solidFill>
            <a:srgbClr val="FBF4E4"/>
          </a:solidFill>
          <a:ln/>
          <a:effectLst>
            <a:outerShdw blurRad="101600" dist="38100" dir="5400000" algn="bl" rotWithShape="0">
              <a:srgbClr val="9AA0AD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96112" y="1609344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C88A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896112" y="1865376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25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Awareness · Download App · Followers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172200" y="1463040"/>
            <a:ext cx="5349240" cy="914400"/>
          </a:xfrm>
          <a:prstGeom prst="roundRect">
            <a:avLst>
              <a:gd name="adj" fmla="val 9000"/>
            </a:avLst>
          </a:prstGeom>
          <a:solidFill>
            <a:srgbClr val="13223F"/>
          </a:solidFill>
          <a:ln/>
          <a:effectLst>
            <a:outerShdw blurRad="101600" dist="38100" dir="5400000" algn="bl" rotWithShape="0">
              <a:srgbClr val="9AA0AD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428232" y="1609344"/>
            <a:ext cx="4892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D8C8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PESERTA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6428232" y="1865376"/>
            <a:ext cx="4892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Mahasiswa · Desainer · Content Creator · Freelance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640080" y="26060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C88A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JOURNEY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40080" y="2926080"/>
            <a:ext cx="1316736" cy="868680"/>
          </a:xfrm>
          <a:prstGeom prst="roundRect">
            <a:avLst>
              <a:gd name="adj" fmla="val 8421"/>
            </a:avLst>
          </a:prstGeom>
          <a:solidFill>
            <a:srgbClr val="13223F"/>
          </a:solidFill>
          <a:ln/>
        </p:spPr>
      </p:sp>
      <p:sp>
        <p:nvSpPr>
          <p:cNvPr id="14" name="Text 12"/>
          <p:cNvSpPr/>
          <p:nvPr/>
        </p:nvSpPr>
        <p:spPr>
          <a:xfrm>
            <a:off x="749808" y="3017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B3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13232" y="3236976"/>
            <a:ext cx="11704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150"/>
              </a:lnSpc>
              <a:buNone/>
            </a:pPr>
            <a:r>
              <a:rPr lang="en-US" sz="103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Lihat Poster</a:t>
            </a:r>
            <a:endParaRPr lang="en-US" sz="1030" dirty="0"/>
          </a:p>
        </p:txBody>
      </p:sp>
      <p:sp>
        <p:nvSpPr>
          <p:cNvPr id="16" name="Shape 14"/>
          <p:cNvSpPr/>
          <p:nvPr/>
        </p:nvSpPr>
        <p:spPr>
          <a:xfrm>
            <a:off x="2025396" y="2926080"/>
            <a:ext cx="1316736" cy="868680"/>
          </a:xfrm>
          <a:prstGeom prst="roundRect">
            <a:avLst>
              <a:gd name="adj" fmla="val 8421"/>
            </a:avLst>
          </a:prstGeom>
          <a:solidFill>
            <a:srgbClr val="13223F"/>
          </a:solidFill>
          <a:ln/>
        </p:spPr>
      </p:sp>
      <p:sp>
        <p:nvSpPr>
          <p:cNvPr id="17" name="Text 15"/>
          <p:cNvSpPr/>
          <p:nvPr/>
        </p:nvSpPr>
        <p:spPr>
          <a:xfrm>
            <a:off x="2135124" y="3017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B3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098548" y="3236976"/>
            <a:ext cx="11704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150"/>
              </a:lnSpc>
              <a:buNone/>
            </a:pPr>
            <a:r>
              <a:rPr lang="en-US" sz="103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Follow IG</a:t>
            </a:r>
            <a:endParaRPr lang="en-US" sz="1030" dirty="0"/>
          </a:p>
        </p:txBody>
      </p:sp>
      <p:sp>
        <p:nvSpPr>
          <p:cNvPr id="19" name="Shape 17"/>
          <p:cNvSpPr/>
          <p:nvPr/>
        </p:nvSpPr>
        <p:spPr>
          <a:xfrm>
            <a:off x="3410712" y="2926080"/>
            <a:ext cx="1316736" cy="868680"/>
          </a:xfrm>
          <a:prstGeom prst="roundRect">
            <a:avLst>
              <a:gd name="adj" fmla="val 8421"/>
            </a:avLst>
          </a:prstGeom>
          <a:solidFill>
            <a:srgbClr val="13223F"/>
          </a:solidFill>
          <a:ln/>
        </p:spPr>
      </p:sp>
      <p:sp>
        <p:nvSpPr>
          <p:cNvPr id="20" name="Text 18"/>
          <p:cNvSpPr/>
          <p:nvPr/>
        </p:nvSpPr>
        <p:spPr>
          <a:xfrm>
            <a:off x="3520440" y="3017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B3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83864" y="3236976"/>
            <a:ext cx="11704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150"/>
              </a:lnSpc>
              <a:buNone/>
            </a:pPr>
            <a:r>
              <a:rPr lang="en-US" sz="103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Download App</a:t>
            </a:r>
            <a:endParaRPr lang="en-US" sz="1030" dirty="0"/>
          </a:p>
        </p:txBody>
      </p:sp>
      <p:sp>
        <p:nvSpPr>
          <p:cNvPr id="22" name="Shape 20"/>
          <p:cNvSpPr/>
          <p:nvPr/>
        </p:nvSpPr>
        <p:spPr>
          <a:xfrm>
            <a:off x="4796028" y="2926080"/>
            <a:ext cx="1316736" cy="868680"/>
          </a:xfrm>
          <a:prstGeom prst="roundRect">
            <a:avLst>
              <a:gd name="adj" fmla="val 8421"/>
            </a:avLst>
          </a:prstGeom>
          <a:solidFill>
            <a:srgbClr val="13223F"/>
          </a:solidFill>
          <a:ln/>
        </p:spPr>
      </p:sp>
      <p:sp>
        <p:nvSpPr>
          <p:cNvPr id="23" name="Text 21"/>
          <p:cNvSpPr/>
          <p:nvPr/>
        </p:nvSpPr>
        <p:spPr>
          <a:xfrm>
            <a:off x="4905756" y="3017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B3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869180" y="3236976"/>
            <a:ext cx="11704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150"/>
              </a:lnSpc>
              <a:buNone/>
            </a:pPr>
            <a:r>
              <a:rPr lang="en-US" sz="103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Daftar Lomba</a:t>
            </a:r>
            <a:endParaRPr lang="en-US" sz="1030" dirty="0"/>
          </a:p>
        </p:txBody>
      </p:sp>
      <p:sp>
        <p:nvSpPr>
          <p:cNvPr id="25" name="Shape 23"/>
          <p:cNvSpPr/>
          <p:nvPr/>
        </p:nvSpPr>
        <p:spPr>
          <a:xfrm>
            <a:off x="6181344" y="2926080"/>
            <a:ext cx="1316736" cy="868680"/>
          </a:xfrm>
          <a:prstGeom prst="roundRect">
            <a:avLst>
              <a:gd name="adj" fmla="val 8421"/>
            </a:avLst>
          </a:prstGeom>
          <a:solidFill>
            <a:srgbClr val="13223F"/>
          </a:solidFill>
          <a:ln/>
        </p:spPr>
      </p:sp>
      <p:sp>
        <p:nvSpPr>
          <p:cNvPr id="26" name="Text 24"/>
          <p:cNvSpPr/>
          <p:nvPr/>
        </p:nvSpPr>
        <p:spPr>
          <a:xfrm>
            <a:off x="6291072" y="3017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B3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254496" y="3236976"/>
            <a:ext cx="11704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150"/>
              </a:lnSpc>
              <a:buNone/>
            </a:pPr>
            <a:r>
              <a:rPr lang="en-US" sz="103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Upload Karya</a:t>
            </a:r>
            <a:endParaRPr lang="en-US" sz="1030" dirty="0"/>
          </a:p>
        </p:txBody>
      </p:sp>
      <p:sp>
        <p:nvSpPr>
          <p:cNvPr id="28" name="Shape 26"/>
          <p:cNvSpPr/>
          <p:nvPr/>
        </p:nvSpPr>
        <p:spPr>
          <a:xfrm>
            <a:off x="7566660" y="2926080"/>
            <a:ext cx="1316736" cy="868680"/>
          </a:xfrm>
          <a:prstGeom prst="roundRect">
            <a:avLst>
              <a:gd name="adj" fmla="val 8421"/>
            </a:avLst>
          </a:prstGeom>
          <a:solidFill>
            <a:srgbClr val="13223F"/>
          </a:solidFill>
          <a:ln/>
        </p:spPr>
      </p:sp>
      <p:sp>
        <p:nvSpPr>
          <p:cNvPr id="29" name="Text 27"/>
          <p:cNvSpPr/>
          <p:nvPr/>
        </p:nvSpPr>
        <p:spPr>
          <a:xfrm>
            <a:off x="7676388" y="3017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B3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7639812" y="3236976"/>
            <a:ext cx="11704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150"/>
              </a:lnSpc>
              <a:buNone/>
            </a:pPr>
            <a:r>
              <a:rPr lang="en-US" sz="103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Tag Ruangprint</a:t>
            </a:r>
            <a:endParaRPr lang="en-US" sz="1030" dirty="0"/>
          </a:p>
        </p:txBody>
      </p:sp>
      <p:sp>
        <p:nvSpPr>
          <p:cNvPr id="31" name="Shape 29"/>
          <p:cNvSpPr/>
          <p:nvPr/>
        </p:nvSpPr>
        <p:spPr>
          <a:xfrm>
            <a:off x="8951976" y="2926080"/>
            <a:ext cx="1316736" cy="868680"/>
          </a:xfrm>
          <a:prstGeom prst="roundRect">
            <a:avLst>
              <a:gd name="adj" fmla="val 8421"/>
            </a:avLst>
          </a:prstGeom>
          <a:solidFill>
            <a:srgbClr val="13223F"/>
          </a:solidFill>
          <a:ln/>
        </p:spPr>
      </p:sp>
      <p:sp>
        <p:nvSpPr>
          <p:cNvPr id="32" name="Text 30"/>
          <p:cNvSpPr/>
          <p:nvPr/>
        </p:nvSpPr>
        <p:spPr>
          <a:xfrm>
            <a:off x="9061704" y="3017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B3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9025128" y="3236976"/>
            <a:ext cx="11704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150"/>
              </a:lnSpc>
              <a:buNone/>
            </a:pPr>
            <a:r>
              <a:rPr lang="en-US" sz="103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</a:t>
            </a:r>
            <a:endParaRPr lang="en-US" sz="1030" dirty="0"/>
          </a:p>
        </p:txBody>
      </p:sp>
      <p:sp>
        <p:nvSpPr>
          <p:cNvPr id="34" name="Shape 32"/>
          <p:cNvSpPr/>
          <p:nvPr/>
        </p:nvSpPr>
        <p:spPr>
          <a:xfrm>
            <a:off x="10337292" y="2926080"/>
            <a:ext cx="1316736" cy="868680"/>
          </a:xfrm>
          <a:prstGeom prst="roundRect">
            <a:avLst>
              <a:gd name="adj" fmla="val 8421"/>
            </a:avLst>
          </a:prstGeom>
          <a:solidFill>
            <a:srgbClr val="F5B31E"/>
          </a:solidFill>
          <a:ln/>
        </p:spPr>
      </p:sp>
      <p:sp>
        <p:nvSpPr>
          <p:cNvPr id="35" name="Text 33"/>
          <p:cNvSpPr/>
          <p:nvPr/>
        </p:nvSpPr>
        <p:spPr>
          <a:xfrm>
            <a:off x="10447020" y="3017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32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10410444" y="3236976"/>
            <a:ext cx="11704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150"/>
              </a:lnSpc>
              <a:buNone/>
            </a:pPr>
            <a:r>
              <a:rPr lang="en-US" sz="1030" b="1" dirty="0">
                <a:solidFill>
                  <a:srgbClr val="132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Jadi User</a:t>
            </a:r>
            <a:endParaRPr lang="en-US" sz="1030" dirty="0"/>
          </a:p>
        </p:txBody>
      </p:sp>
      <p:sp>
        <p:nvSpPr>
          <p:cNvPr id="37" name="Text 35"/>
          <p:cNvSpPr/>
          <p:nvPr/>
        </p:nvSpPr>
        <p:spPr>
          <a:xfrm>
            <a:off x="640080" y="4160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C88A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KPI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2743200" y="4160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A7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Baseline 191 peserta tahun lalu, ditingkatkan +20%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640080" y="4526280"/>
            <a:ext cx="3474720" cy="1417320"/>
          </a:xfrm>
          <a:prstGeom prst="roundRect">
            <a:avLst>
              <a:gd name="adj" fmla="val 6452"/>
            </a:avLst>
          </a:prstGeom>
          <a:solidFill>
            <a:srgbClr val="FBF4E4"/>
          </a:solidFill>
          <a:ln/>
          <a:effectLst>
            <a:outerShdw blurRad="101600" dist="38100" dir="5400000" algn="bl" rotWithShape="0">
              <a:srgbClr val="9AA0AD">
                <a:alpha val="14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960120" y="4892040"/>
            <a:ext cx="685800" cy="685800"/>
          </a:xfrm>
          <a:prstGeom prst="ellipse">
            <a:avLst/>
          </a:prstGeom>
          <a:solidFill>
            <a:srgbClr val="13223F"/>
          </a:solidFill>
          <a:ln/>
        </p:spPr>
      </p:sp>
      <p:pic>
        <p:nvPicPr>
          <p:cNvPr id="4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5074920"/>
            <a:ext cx="320040" cy="320040"/>
          </a:xfrm>
          <a:prstGeom prst="rect">
            <a:avLst/>
          </a:prstGeom>
        </p:spPr>
      </p:pic>
      <p:sp>
        <p:nvSpPr>
          <p:cNvPr id="42" name="Text 39"/>
          <p:cNvSpPr/>
          <p:nvPr/>
        </p:nvSpPr>
        <p:spPr>
          <a:xfrm>
            <a:off x="1783080" y="4709160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1322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230</a:t>
            </a:r>
            <a:endParaRPr lang="en-US" sz="4200" dirty="0"/>
          </a:p>
        </p:txBody>
      </p:sp>
      <p:sp>
        <p:nvSpPr>
          <p:cNvPr id="43" name="Text 40"/>
          <p:cNvSpPr/>
          <p:nvPr/>
        </p:nvSpPr>
        <p:spPr>
          <a:xfrm>
            <a:off x="1810512" y="544068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A7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Downloader App</a:t>
            </a:r>
            <a:endParaRPr lang="en-US" sz="1200" dirty="0"/>
          </a:p>
        </p:txBody>
      </p:sp>
      <p:sp>
        <p:nvSpPr>
          <p:cNvPr id="44" name="Shape 41"/>
          <p:cNvSpPr/>
          <p:nvPr/>
        </p:nvSpPr>
        <p:spPr>
          <a:xfrm>
            <a:off x="4343400" y="4526280"/>
            <a:ext cx="3474720" cy="1417320"/>
          </a:xfrm>
          <a:prstGeom prst="roundRect">
            <a:avLst>
              <a:gd name="adj" fmla="val 6452"/>
            </a:avLst>
          </a:prstGeom>
          <a:solidFill>
            <a:srgbClr val="FBF4E4"/>
          </a:solidFill>
          <a:ln/>
          <a:effectLst>
            <a:outerShdw blurRad="101600" dist="38100" dir="5400000" algn="bl" rotWithShape="0">
              <a:srgbClr val="9AA0AD">
                <a:alpha val="14000"/>
              </a:srgbClr>
            </a:outerShdw>
          </a:effectLst>
        </p:spPr>
      </p:sp>
      <p:sp>
        <p:nvSpPr>
          <p:cNvPr id="45" name="Shape 42"/>
          <p:cNvSpPr/>
          <p:nvPr/>
        </p:nvSpPr>
        <p:spPr>
          <a:xfrm>
            <a:off x="4663440" y="4892040"/>
            <a:ext cx="685800" cy="685800"/>
          </a:xfrm>
          <a:prstGeom prst="ellipse">
            <a:avLst/>
          </a:prstGeom>
          <a:solidFill>
            <a:srgbClr val="13223F"/>
          </a:solidFill>
          <a:ln/>
        </p:spPr>
      </p:sp>
      <p:pic>
        <p:nvPicPr>
          <p:cNvPr id="4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6320" y="5074920"/>
            <a:ext cx="320040" cy="320040"/>
          </a:xfrm>
          <a:prstGeom prst="rect">
            <a:avLst/>
          </a:prstGeom>
        </p:spPr>
      </p:pic>
      <p:sp>
        <p:nvSpPr>
          <p:cNvPr id="47" name="Text 43"/>
          <p:cNvSpPr/>
          <p:nvPr/>
        </p:nvSpPr>
        <p:spPr>
          <a:xfrm>
            <a:off x="5486400" y="4709160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1322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230</a:t>
            </a:r>
            <a:endParaRPr lang="en-US" sz="4200" dirty="0"/>
          </a:p>
        </p:txBody>
      </p:sp>
      <p:sp>
        <p:nvSpPr>
          <p:cNvPr id="48" name="Text 44"/>
          <p:cNvSpPr/>
          <p:nvPr/>
        </p:nvSpPr>
        <p:spPr>
          <a:xfrm>
            <a:off x="5513832" y="544068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A7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Pengguna Baru</a:t>
            </a:r>
            <a:endParaRPr lang="en-US" sz="1200" dirty="0"/>
          </a:p>
        </p:txBody>
      </p:sp>
      <p:sp>
        <p:nvSpPr>
          <p:cNvPr id="49" name="Shape 45"/>
          <p:cNvSpPr/>
          <p:nvPr/>
        </p:nvSpPr>
        <p:spPr>
          <a:xfrm>
            <a:off x="8046720" y="4526280"/>
            <a:ext cx="3474720" cy="1417320"/>
          </a:xfrm>
          <a:prstGeom prst="roundRect">
            <a:avLst>
              <a:gd name="adj" fmla="val 6452"/>
            </a:avLst>
          </a:prstGeom>
          <a:solidFill>
            <a:srgbClr val="FBF4E4"/>
          </a:solidFill>
          <a:ln/>
          <a:effectLst>
            <a:outerShdw blurRad="101600" dist="38100" dir="5400000" algn="bl" rotWithShape="0">
              <a:srgbClr val="9AA0AD">
                <a:alpha val="14000"/>
              </a:srgbClr>
            </a:outerShdw>
          </a:effectLst>
        </p:spPr>
      </p:sp>
      <p:sp>
        <p:nvSpPr>
          <p:cNvPr id="50" name="Shape 46"/>
          <p:cNvSpPr/>
          <p:nvPr/>
        </p:nvSpPr>
        <p:spPr>
          <a:xfrm>
            <a:off x="8366760" y="4892040"/>
            <a:ext cx="685800" cy="685800"/>
          </a:xfrm>
          <a:prstGeom prst="ellipse">
            <a:avLst/>
          </a:prstGeom>
          <a:solidFill>
            <a:srgbClr val="13223F"/>
          </a:solidFill>
          <a:ln/>
        </p:spPr>
      </p:sp>
      <p:pic>
        <p:nvPicPr>
          <p:cNvPr id="5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49640" y="5074920"/>
            <a:ext cx="320040" cy="320040"/>
          </a:xfrm>
          <a:prstGeom prst="rect">
            <a:avLst/>
          </a:prstGeom>
        </p:spPr>
      </p:pic>
      <p:sp>
        <p:nvSpPr>
          <p:cNvPr id="52" name="Text 47"/>
          <p:cNvSpPr/>
          <p:nvPr/>
        </p:nvSpPr>
        <p:spPr>
          <a:xfrm>
            <a:off x="9189720" y="4709160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1322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230</a:t>
            </a:r>
            <a:endParaRPr lang="en-US" sz="4200" dirty="0"/>
          </a:p>
        </p:txBody>
      </p:sp>
      <p:sp>
        <p:nvSpPr>
          <p:cNvPr id="53" name="Text 48"/>
          <p:cNvSpPr/>
          <p:nvPr/>
        </p:nvSpPr>
        <p:spPr>
          <a:xfrm>
            <a:off x="9217152" y="544068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A7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Followers Baru</a:t>
            </a:r>
            <a:endParaRPr lang="en-US" sz="1200" dirty="0"/>
          </a:p>
        </p:txBody>
      </p:sp>
      <p:sp>
        <p:nvSpPr>
          <p:cNvPr id="54" name="Text 49"/>
          <p:cNvSpPr/>
          <p:nvPr/>
        </p:nvSpPr>
        <p:spPr>
          <a:xfrm>
            <a:off x="10789920" y="63550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kern="0" spc="100" dirty="0">
                <a:solidFill>
                  <a:srgbClr val="132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RUANG</a:t>
            </a:r>
            <a:r>
              <a:rPr lang="en-US" sz="1300" b="1" kern="0" spc="100" dirty="0">
                <a:solidFill>
                  <a:srgbClr val="F5B3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PRINT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502920" cy="502920"/>
          </a:xfrm>
          <a:prstGeom prst="ellipse">
            <a:avLst/>
          </a:prstGeom>
          <a:solidFill>
            <a:srgbClr val="F5B31E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32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280160" y="45720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322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Event 02 — Diskon Khusus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280160" y="960120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A7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Promo terukur untuk mendorong ID order &amp; akuisisi pelanggan baru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1463040"/>
            <a:ext cx="5394960" cy="914400"/>
          </a:xfrm>
          <a:prstGeom prst="roundRect">
            <a:avLst>
              <a:gd name="adj" fmla="val 9000"/>
            </a:avLst>
          </a:prstGeom>
          <a:solidFill>
            <a:srgbClr val="FBF4E4"/>
          </a:solidFill>
          <a:ln/>
          <a:effectLst>
            <a:outerShdw blurRad="101600" dist="38100" dir="5400000" algn="bl" rotWithShape="0">
              <a:srgbClr val="9AA0AD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96112" y="1609344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C88A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896112" y="1865376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25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Naikkan ID Order &amp; Pelanggan Baru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172200" y="1463040"/>
            <a:ext cx="5349240" cy="914400"/>
          </a:xfrm>
          <a:prstGeom prst="roundRect">
            <a:avLst>
              <a:gd name="adj" fmla="val 9000"/>
            </a:avLst>
          </a:prstGeom>
          <a:solidFill>
            <a:srgbClr val="13223F"/>
          </a:solidFill>
          <a:ln/>
          <a:effectLst>
            <a:outerShdw blurRad="101600" dist="38100" dir="5400000" algn="bl" rotWithShape="0">
              <a:srgbClr val="9AA0AD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428232" y="1609344"/>
            <a:ext cx="4892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D8C8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6428232" y="1865376"/>
            <a:ext cx="4892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UMKM · Mahasiswa · Customer Lama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640080" y="26060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20" dirty="0">
                <a:solidFill>
                  <a:srgbClr val="C88A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TREN ID ORDER &amp; TARGET AGUSTUS</a:t>
            </a:r>
            <a:endParaRPr lang="en-US" sz="1100" dirty="0"/>
          </a:p>
        </p:txBody>
      </p:sp>
      <p:graphicFrame>
        <p:nvGraphicFramePr>
          <p:cNvPr id="13" name="Chart 0"/>
          <p:cNvGraphicFramePr/>
          <p:nvPr/>
        </p:nvGraphicFramePr>
        <p:xfrm>
          <a:off x="502920" y="2926080"/>
          <a:ext cx="5486400" cy="27889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4" name="Text 11"/>
          <p:cNvSpPr/>
          <p:nvPr/>
        </p:nvSpPr>
        <p:spPr>
          <a:xfrm>
            <a:off x="640080" y="57150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A7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Agustus = +20% dari baseline target 274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6400800" y="2651760"/>
            <a:ext cx="5120640" cy="914400"/>
          </a:xfrm>
          <a:prstGeom prst="roundRect">
            <a:avLst>
              <a:gd name="adj" fmla="val 9000"/>
            </a:avLst>
          </a:prstGeom>
          <a:solidFill>
            <a:srgbClr val="13223F"/>
          </a:solidFill>
          <a:ln/>
          <a:effectLst>
            <a:outerShdw blurRad="101600" dist="38100" dir="5400000" algn="bl" rotWithShape="0">
              <a:srgbClr val="9AA0AD">
                <a:alpha val="12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6675120" y="269748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5B3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328</a:t>
            </a:r>
            <a:endParaRPr lang="en-US" sz="4000" dirty="0"/>
          </a:p>
        </p:txBody>
      </p:sp>
      <p:sp>
        <p:nvSpPr>
          <p:cNvPr id="17" name="Text 14"/>
          <p:cNvSpPr/>
          <p:nvPr/>
        </p:nvSpPr>
        <p:spPr>
          <a:xfrm>
            <a:off x="8503920" y="283464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 Order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8503920" y="315468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7D2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Agustus, +20%</a:t>
            </a:r>
            <a:endParaRPr lang="en-US" sz="1150" dirty="0"/>
          </a:p>
        </p:txBody>
      </p:sp>
      <p:sp>
        <p:nvSpPr>
          <p:cNvPr id="19" name="Shape 16"/>
          <p:cNvSpPr/>
          <p:nvPr/>
        </p:nvSpPr>
        <p:spPr>
          <a:xfrm>
            <a:off x="6400800" y="3703320"/>
            <a:ext cx="5120640" cy="914400"/>
          </a:xfrm>
          <a:prstGeom prst="roundRect">
            <a:avLst>
              <a:gd name="adj" fmla="val 9000"/>
            </a:avLst>
          </a:prstGeom>
          <a:solidFill>
            <a:srgbClr val="FBF4E4"/>
          </a:solidFill>
          <a:ln/>
          <a:effectLst>
            <a:outerShdw blurRad="101600" dist="38100" dir="5400000" algn="bl" rotWithShape="0">
              <a:srgbClr val="9AA0AD">
                <a:alpha val="12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6675120" y="374904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322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103</a:t>
            </a:r>
            <a:endParaRPr lang="en-US" sz="4000" dirty="0"/>
          </a:p>
        </p:txBody>
      </p:sp>
      <p:sp>
        <p:nvSpPr>
          <p:cNvPr id="21" name="Text 18"/>
          <p:cNvSpPr/>
          <p:nvPr/>
        </p:nvSpPr>
        <p:spPr>
          <a:xfrm>
            <a:off x="8503920" y="388620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32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Pelanggan Baru</a:t>
            </a:r>
            <a:endParaRPr lang="en-US" sz="1500" dirty="0"/>
          </a:p>
        </p:txBody>
      </p:sp>
      <p:sp>
        <p:nvSpPr>
          <p:cNvPr id="22" name="Text 19"/>
          <p:cNvSpPr/>
          <p:nvPr/>
        </p:nvSpPr>
        <p:spPr>
          <a:xfrm>
            <a:off x="8503920" y="420624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A7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dari 86 di Juni, +20%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6400800" y="4800600"/>
            <a:ext cx="5120640" cy="1170432"/>
          </a:xfrm>
          <a:prstGeom prst="roundRect">
            <a:avLst>
              <a:gd name="adj" fmla="val 7031"/>
            </a:avLst>
          </a:prstGeom>
          <a:solidFill>
            <a:srgbClr val="FBF0E0"/>
          </a:solidFill>
          <a:ln/>
        </p:spPr>
      </p:sp>
      <p:sp>
        <p:nvSpPr>
          <p:cNvPr id="24" name="Text 21"/>
          <p:cNvSpPr/>
          <p:nvPr/>
        </p:nvSpPr>
        <p:spPr>
          <a:xfrm>
            <a:off x="6675120" y="493776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050" b="1" dirty="0">
                <a:solidFill>
                  <a:srgbClr val="B977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RISIKO  </a:t>
            </a:r>
            <a:r>
              <a:rPr lang="en-US" sz="1150" dirty="0">
                <a:solidFill>
                  <a:srgbClr val="1B25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Margin turun · promo disalahgunakan
</a:t>
            </a:r>
            <a:endParaRPr lang="en-US" sz="105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05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MITIGASI  </a:t>
            </a:r>
            <a:r>
              <a:rPr lang="en-US" sz="1150" dirty="0">
                <a:solidFill>
                  <a:srgbClr val="1B25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Minimum transaksi · batas maksimal penggunaan voucher</a:t>
            </a:r>
            <a:endParaRPr lang="en-US" sz="1050" dirty="0"/>
          </a:p>
        </p:txBody>
      </p:sp>
      <p:sp>
        <p:nvSpPr>
          <p:cNvPr id="25" name="Text 22"/>
          <p:cNvSpPr/>
          <p:nvPr/>
        </p:nvSpPr>
        <p:spPr>
          <a:xfrm>
            <a:off x="10789920" y="63550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kern="0" spc="100" dirty="0">
                <a:solidFill>
                  <a:srgbClr val="132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RUANG</a:t>
            </a:r>
            <a:r>
              <a:rPr lang="en-US" sz="1300" b="1" kern="0" spc="100" dirty="0">
                <a:solidFill>
                  <a:srgbClr val="F5B3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PRINT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502920" cy="502920"/>
          </a:xfrm>
          <a:prstGeom prst="ellipse">
            <a:avLst/>
          </a:prstGeom>
          <a:solidFill>
            <a:srgbClr val="F5B31E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32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280160" y="45720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322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Event 03 — Dekorasi Store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280160" y="96012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A7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Percantik cabang untuk menarik walk-in customer &amp; memancing Google Review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1463040"/>
            <a:ext cx="5394960" cy="914400"/>
          </a:xfrm>
          <a:prstGeom prst="roundRect">
            <a:avLst>
              <a:gd name="adj" fmla="val 9000"/>
            </a:avLst>
          </a:prstGeom>
          <a:solidFill>
            <a:srgbClr val="FBF4E4"/>
          </a:solidFill>
          <a:ln/>
          <a:effectLst>
            <a:outerShdw blurRad="101600" dist="38100" dir="5400000" algn="bl" rotWithShape="0">
              <a:srgbClr val="9AA0AD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96112" y="1609344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C88A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896112" y="1865376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25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Tingkatkan Walk-in Customer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172200" y="1463040"/>
            <a:ext cx="5349240" cy="914400"/>
          </a:xfrm>
          <a:prstGeom prst="roundRect">
            <a:avLst>
              <a:gd name="adj" fmla="val 9000"/>
            </a:avLst>
          </a:prstGeom>
          <a:solidFill>
            <a:srgbClr val="13223F"/>
          </a:solidFill>
          <a:ln/>
          <a:effectLst>
            <a:outerShdw blurRad="101600" dist="38100" dir="5400000" algn="bl" rotWithShape="0">
              <a:srgbClr val="9AA0AD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428232" y="1609344"/>
            <a:ext cx="4892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D8C8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6428232" y="1865376"/>
            <a:ext cx="4892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Offline per Cabang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640080" y="26060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20" dirty="0">
                <a:solidFill>
                  <a:srgbClr val="C88A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HADIAH &amp; DAYA TARIK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40080" y="2926080"/>
            <a:ext cx="1371600" cy="868680"/>
          </a:xfrm>
          <a:prstGeom prst="roundRect">
            <a:avLst>
              <a:gd name="adj" fmla="val 9474"/>
            </a:avLst>
          </a:prstGeom>
          <a:solidFill>
            <a:srgbClr val="FBF4E4"/>
          </a:solidFill>
          <a:ln/>
          <a:effectLst>
            <a:outerShdw blurRad="101600" dist="38100" dir="5400000" algn="bl" rotWithShape="0">
              <a:srgbClr val="9AA0AD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85800" y="2926080"/>
            <a:ext cx="1280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32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Voucher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2148840" y="2926080"/>
            <a:ext cx="1371600" cy="868680"/>
          </a:xfrm>
          <a:prstGeom prst="roundRect">
            <a:avLst>
              <a:gd name="adj" fmla="val 9474"/>
            </a:avLst>
          </a:prstGeom>
          <a:solidFill>
            <a:srgbClr val="FBF4E4"/>
          </a:solidFill>
          <a:ln/>
          <a:effectLst>
            <a:outerShdw blurRad="101600" dist="38100" dir="5400000" algn="bl" rotWithShape="0">
              <a:srgbClr val="9AA0AD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2194560" y="2926080"/>
            <a:ext cx="1280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32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Merchandise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657600" y="2926080"/>
            <a:ext cx="1371600" cy="868680"/>
          </a:xfrm>
          <a:prstGeom prst="roundRect">
            <a:avLst>
              <a:gd name="adj" fmla="val 9474"/>
            </a:avLst>
          </a:prstGeom>
          <a:solidFill>
            <a:srgbClr val="FBF4E4"/>
          </a:solidFill>
          <a:ln/>
          <a:effectLst>
            <a:outerShdw blurRad="101600" dist="38100" dir="5400000" algn="bl" rotWithShape="0">
              <a:srgbClr val="9AA0AD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3703320" y="2926080"/>
            <a:ext cx="1280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32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Diskon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166360" y="2926080"/>
            <a:ext cx="1371600" cy="868680"/>
          </a:xfrm>
          <a:prstGeom prst="roundRect">
            <a:avLst>
              <a:gd name="adj" fmla="val 9474"/>
            </a:avLst>
          </a:prstGeom>
          <a:solidFill>
            <a:srgbClr val="FBF4E4"/>
          </a:solidFill>
          <a:ln/>
          <a:effectLst>
            <a:outerShdw blurRad="101600" dist="38100" dir="5400000" algn="bl" rotWithShape="0">
              <a:srgbClr val="9AA0AD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212080" y="2926080"/>
            <a:ext cx="1280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32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Gratis Cetak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492240" y="2606040"/>
            <a:ext cx="5029200" cy="3063240"/>
          </a:xfrm>
          <a:prstGeom prst="roundRect">
            <a:avLst>
              <a:gd name="adj" fmla="val 3582"/>
            </a:avLst>
          </a:prstGeom>
          <a:solidFill>
            <a:srgbClr val="13223F"/>
          </a:solidFill>
          <a:ln/>
          <a:effectLst>
            <a:outerShdw blurRad="101600" dist="38100" dir="5400000" algn="bl" rotWithShape="0">
              <a:srgbClr val="9AA0AD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858000" y="288036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F5B3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KPI — GOOGLE REVIEW / CABANG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858000" y="3246120"/>
            <a:ext cx="4389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6E82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50</a:t>
            </a:r>
            <a:r>
              <a:rPr lang="en-US" sz="3000" b="1" dirty="0">
                <a:solidFill>
                  <a:srgbClr val="F5B3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→   </a:t>
            </a:r>
            <a:r>
              <a:rPr lang="en-US" sz="6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70</a:t>
            </a:r>
            <a:endParaRPr lang="en-US" sz="4000" dirty="0"/>
          </a:p>
        </p:txBody>
      </p:sp>
      <p:sp>
        <p:nvSpPr>
          <p:cNvPr id="24" name="Text 22"/>
          <p:cNvSpPr/>
          <p:nvPr/>
        </p:nvSpPr>
        <p:spPr>
          <a:xfrm>
            <a:off x="6858000" y="443484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7D2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 per cabang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8001000" y="4892040"/>
            <a:ext cx="2011680" cy="502920"/>
          </a:xfrm>
          <a:prstGeom prst="roundRect">
            <a:avLst>
              <a:gd name="adj" fmla="val 49091"/>
            </a:avLst>
          </a:prstGeom>
          <a:solidFill>
            <a:srgbClr val="F5B31E"/>
          </a:solidFill>
          <a:ln/>
        </p:spPr>
      </p:sp>
      <p:sp>
        <p:nvSpPr>
          <p:cNvPr id="26" name="Text 24"/>
          <p:cNvSpPr/>
          <p:nvPr/>
        </p:nvSpPr>
        <p:spPr>
          <a:xfrm>
            <a:off x="8001000" y="489204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32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+40% partisipasi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40080" y="4023360"/>
            <a:ext cx="5486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00" dirty="0">
                <a:solidFill>
                  <a:srgbClr val="1B25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Walk-in customer sulit dilacak langsung, jadi KPI diukur lewat pertumbuhan Google Review bercabang (disertai foto cabang).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40080" y="4892040"/>
            <a:ext cx="5486400" cy="1051560"/>
          </a:xfrm>
          <a:prstGeom prst="roundRect">
            <a:avLst>
              <a:gd name="adj" fmla="val 7826"/>
            </a:avLst>
          </a:prstGeom>
          <a:solidFill>
            <a:srgbClr val="FBF0E0"/>
          </a:solidFill>
          <a:ln/>
        </p:spPr>
      </p:sp>
      <p:sp>
        <p:nvSpPr>
          <p:cNvPr id="29" name="Text 27"/>
          <p:cNvSpPr/>
          <p:nvPr/>
        </p:nvSpPr>
        <p:spPr>
          <a:xfrm>
            <a:off x="914400" y="5029200"/>
            <a:ext cx="502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050" b="1" dirty="0">
                <a:solidFill>
                  <a:srgbClr val="B977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RISIKO  </a:t>
            </a:r>
            <a:r>
              <a:rPr lang="en-US" sz="1150" dirty="0">
                <a:solidFill>
                  <a:srgbClr val="1B25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enggan mereview store
</a:t>
            </a:r>
            <a:endParaRPr lang="en-US" sz="105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05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MITIGASI  </a:t>
            </a:r>
            <a:r>
              <a:rPr lang="en-US" sz="1150" dirty="0">
                <a:solidFill>
                  <a:srgbClr val="1B25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Sosialisasi aktif oleh Deskprint tiap cabang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10789920" y="63550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kern="0" spc="100" dirty="0">
                <a:solidFill>
                  <a:srgbClr val="132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RUANG</a:t>
            </a:r>
            <a:r>
              <a:rPr lang="en-US" sz="1300" b="1" kern="0" spc="100" dirty="0">
                <a:solidFill>
                  <a:srgbClr val="F5B3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PRINT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88A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BAB 3 — ANALISIS SWOT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322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Posisi Ruangprint Saat Ini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5440680" cy="2084832"/>
          </a:xfrm>
          <a:prstGeom prst="roundRect">
            <a:avLst>
              <a:gd name="adj" fmla="val 4386"/>
            </a:avLst>
          </a:prstGeom>
          <a:solidFill>
            <a:srgbClr val="E8F3E9"/>
          </a:solidFill>
          <a:ln/>
          <a:effectLst>
            <a:outerShdw blurRad="101600" dist="38100" dir="5400000" algn="bl" rotWithShape="0">
              <a:srgbClr val="9AA0AD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60120" y="1874520"/>
            <a:ext cx="566928" cy="56692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2011680"/>
            <a:ext cx="292608" cy="2926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91640" y="1874520"/>
            <a:ext cx="4160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2E7D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Strength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1005840" y="2560320"/>
            <a:ext cx="470916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1B25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Banyak cabang</a:t>
            </a:r>
            <a:endParaRPr lang="en-US" sz="12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1B25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Brand sudah dikenal</a:t>
            </a:r>
            <a:endParaRPr lang="en-US" sz="12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1B25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Produk lengkap</a:t>
            </a:r>
            <a:endParaRPr lang="en-US" sz="12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1B25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Punya aplikasi sendiri</a:t>
            </a:r>
            <a:endParaRPr lang="en-US" sz="12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1B25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SDM berpengalaman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409944" y="1554480"/>
            <a:ext cx="5440680" cy="2084832"/>
          </a:xfrm>
          <a:prstGeom prst="roundRect">
            <a:avLst>
              <a:gd name="adj" fmla="val 4386"/>
            </a:avLst>
          </a:prstGeom>
          <a:solidFill>
            <a:srgbClr val="FBECEA"/>
          </a:solidFill>
          <a:ln/>
          <a:effectLst>
            <a:outerShdw blurRad="101600" dist="38100" dir="5400000" algn="bl" rotWithShape="0">
              <a:srgbClr val="9AA0AD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729984" y="1874520"/>
            <a:ext cx="566928" cy="56692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67144" y="2011680"/>
            <a:ext cx="292608" cy="2926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461504" y="1874520"/>
            <a:ext cx="4160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C039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Weakness</a:t>
            </a:r>
            <a:endParaRPr lang="en-US" sz="1900" dirty="0"/>
          </a:p>
        </p:txBody>
      </p:sp>
      <p:sp>
        <p:nvSpPr>
          <p:cNvPr id="13" name="Text 9"/>
          <p:cNvSpPr/>
          <p:nvPr/>
        </p:nvSpPr>
        <p:spPr>
          <a:xfrm>
            <a:off x="6775704" y="2560320"/>
            <a:ext cx="470916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1B25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Awareness aplikasi masih rendah</a:t>
            </a:r>
            <a:endParaRPr lang="en-US" sz="12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1B25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Followers belum besar</a:t>
            </a:r>
            <a:endParaRPr lang="en-US" sz="12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1B25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Budget promosi terbatas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640080" y="3931920"/>
            <a:ext cx="5440680" cy="2084832"/>
          </a:xfrm>
          <a:prstGeom prst="roundRect">
            <a:avLst>
              <a:gd name="adj" fmla="val 4386"/>
            </a:avLst>
          </a:prstGeom>
          <a:solidFill>
            <a:srgbClr val="FBF3E0"/>
          </a:solidFill>
          <a:ln/>
          <a:effectLst>
            <a:outerShdw blurRad="101600" dist="38100" dir="5400000" algn="bl" rotWithShape="0">
              <a:srgbClr val="9AA0AD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60120" y="4251960"/>
            <a:ext cx="566928" cy="56692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97280" y="4389120"/>
            <a:ext cx="292608" cy="2926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691640" y="4251960"/>
            <a:ext cx="4160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B9770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Opportunity</a:t>
            </a:r>
            <a:endParaRPr lang="en-US" sz="1900" dirty="0"/>
          </a:p>
        </p:txBody>
      </p:sp>
      <p:sp>
        <p:nvSpPr>
          <p:cNvPr id="18" name="Text 13"/>
          <p:cNvSpPr/>
          <p:nvPr/>
        </p:nvSpPr>
        <p:spPr>
          <a:xfrm>
            <a:off x="1005840" y="4937760"/>
            <a:ext cx="470916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1B25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Banyak UMKM baru</a:t>
            </a:r>
            <a:endParaRPr lang="en-US" sz="12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1B25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 sekolah</a:t>
            </a:r>
            <a:endParaRPr lang="en-US" sz="12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1B25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Tren bisnis online</a:t>
            </a:r>
            <a:endParaRPr lang="en-US" sz="12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1B25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Digital marketing berkembang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6409944" y="3931920"/>
            <a:ext cx="5440680" cy="2084832"/>
          </a:xfrm>
          <a:prstGeom prst="roundRect">
            <a:avLst>
              <a:gd name="adj" fmla="val 4386"/>
            </a:avLst>
          </a:prstGeom>
          <a:solidFill>
            <a:srgbClr val="F1EAF6"/>
          </a:solidFill>
          <a:ln/>
          <a:effectLst>
            <a:outerShdw blurRad="101600" dist="38100" dir="5400000" algn="bl" rotWithShape="0">
              <a:srgbClr val="9AA0AD">
                <a:alpha val="1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729984" y="4251960"/>
            <a:ext cx="566928" cy="56692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67144" y="4389120"/>
            <a:ext cx="292608" cy="29260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461504" y="4251960"/>
            <a:ext cx="4160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8E44A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Threat</a:t>
            </a:r>
            <a:endParaRPr lang="en-US" sz="1900" dirty="0"/>
          </a:p>
        </p:txBody>
      </p:sp>
      <p:sp>
        <p:nvSpPr>
          <p:cNvPr id="23" name="Text 17"/>
          <p:cNvSpPr/>
          <p:nvPr/>
        </p:nvSpPr>
        <p:spPr>
          <a:xfrm>
            <a:off x="6775704" y="4937760"/>
            <a:ext cx="470916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1B25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Kompetitor perang harga</a:t>
            </a:r>
            <a:endParaRPr lang="en-US" sz="12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1B25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Marketplace printing</a:t>
            </a:r>
            <a:endParaRPr lang="en-US" sz="12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1B25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Percetakan rumahan</a:t>
            </a:r>
            <a:endParaRPr lang="en-US" sz="1200" dirty="0"/>
          </a:p>
        </p:txBody>
      </p:sp>
      <p:sp>
        <p:nvSpPr>
          <p:cNvPr id="24" name="Text 18"/>
          <p:cNvSpPr/>
          <p:nvPr/>
        </p:nvSpPr>
        <p:spPr>
          <a:xfrm>
            <a:off x="10789920" y="63550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kern="0" spc="100" dirty="0">
                <a:solidFill>
                  <a:srgbClr val="132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RUANG</a:t>
            </a:r>
            <a:r>
              <a:rPr lang="en-US" sz="1300" b="1" kern="0" spc="100" dirty="0">
                <a:solidFill>
                  <a:srgbClr val="F5B3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PRINT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88A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BAB 4 — STRATEGI PROMOSI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322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Channel </a:t>
            </a:r>
            <a:r>
              <a:rPr lang="en-US" sz="3000" b="1" dirty="0" err="1">
                <a:solidFill>
                  <a:srgbClr val="1322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Promosi</a:t>
            </a:r>
            <a:r>
              <a:rPr lang="en-US" sz="3000" b="1" dirty="0">
                <a:solidFill>
                  <a:srgbClr val="1322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Online &amp; Offline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5440680" cy="4343400"/>
          </a:xfrm>
          <a:prstGeom prst="roundRect">
            <a:avLst>
              <a:gd name="adj" fmla="val 2105"/>
            </a:avLst>
          </a:prstGeom>
          <a:solidFill>
            <a:srgbClr val="13223F"/>
          </a:solidFill>
          <a:ln/>
          <a:effectLst>
            <a:outerShdw blurRad="101600" dist="38100" dir="5400000" algn="bl" rotWithShape="0">
              <a:srgbClr val="9AA0AD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05840" y="1965960"/>
            <a:ext cx="640080" cy="640080"/>
          </a:xfrm>
          <a:prstGeom prst="ellipse">
            <a:avLst/>
          </a:prstGeom>
          <a:solidFill>
            <a:srgbClr val="F5B31E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9576" y="2139696"/>
            <a:ext cx="292608" cy="2926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83080" y="1984248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Online</a:t>
            </a:r>
            <a:endParaRPr lang="en-US" sz="2200" dirty="0"/>
          </a:p>
        </p:txBody>
      </p:sp>
      <p:sp>
        <p:nvSpPr>
          <p:cNvPr id="8" name="Shape 5"/>
          <p:cNvSpPr/>
          <p:nvPr/>
        </p:nvSpPr>
        <p:spPr>
          <a:xfrm>
            <a:off x="1005840" y="2953512"/>
            <a:ext cx="237744" cy="237744"/>
          </a:xfrm>
          <a:prstGeom prst="ellipse">
            <a:avLst/>
          </a:prstGeom>
          <a:solidFill>
            <a:srgbClr val="F5B31E"/>
          </a:solidFill>
          <a:ln/>
        </p:spPr>
      </p:sp>
      <p:sp>
        <p:nvSpPr>
          <p:cNvPr id="9" name="Text 6"/>
          <p:cNvSpPr/>
          <p:nvPr/>
        </p:nvSpPr>
        <p:spPr>
          <a:xfrm>
            <a:off x="1353312" y="2871216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Instagram Feed &amp; Story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520440" y="2953512"/>
            <a:ext cx="237744" cy="237744"/>
          </a:xfrm>
          <a:prstGeom prst="ellipse">
            <a:avLst/>
          </a:prstGeom>
          <a:solidFill>
            <a:srgbClr val="F5B31E"/>
          </a:solidFill>
          <a:ln/>
        </p:spPr>
      </p:sp>
      <p:sp>
        <p:nvSpPr>
          <p:cNvPr id="11" name="Text 8"/>
          <p:cNvSpPr/>
          <p:nvPr/>
        </p:nvSpPr>
        <p:spPr>
          <a:xfrm>
            <a:off x="3867912" y="2871216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TikTok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1005840" y="3666744"/>
            <a:ext cx="237744" cy="237744"/>
          </a:xfrm>
          <a:prstGeom prst="ellipse">
            <a:avLst/>
          </a:prstGeom>
          <a:solidFill>
            <a:srgbClr val="F5B31E"/>
          </a:solidFill>
          <a:ln/>
        </p:spPr>
      </p:sp>
      <p:sp>
        <p:nvSpPr>
          <p:cNvPr id="13" name="Text 10"/>
          <p:cNvSpPr/>
          <p:nvPr/>
        </p:nvSpPr>
        <p:spPr>
          <a:xfrm>
            <a:off x="1353312" y="3584448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Facebook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3520440" y="3666744"/>
            <a:ext cx="237744" cy="237744"/>
          </a:xfrm>
          <a:prstGeom prst="ellipse">
            <a:avLst/>
          </a:prstGeom>
          <a:solidFill>
            <a:srgbClr val="F5B31E"/>
          </a:solidFill>
          <a:ln/>
        </p:spPr>
      </p:sp>
      <p:sp>
        <p:nvSpPr>
          <p:cNvPr id="15" name="Text 12"/>
          <p:cNvSpPr/>
          <p:nvPr/>
        </p:nvSpPr>
        <p:spPr>
          <a:xfrm>
            <a:off x="3867912" y="3584448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Website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1005840" y="4379976"/>
            <a:ext cx="237744" cy="237744"/>
          </a:xfrm>
          <a:prstGeom prst="ellipse">
            <a:avLst/>
          </a:prstGeom>
          <a:solidFill>
            <a:srgbClr val="F5B31E"/>
          </a:solidFill>
          <a:ln/>
        </p:spPr>
      </p:sp>
      <p:sp>
        <p:nvSpPr>
          <p:cNvPr id="17" name="Text 14"/>
          <p:cNvSpPr/>
          <p:nvPr/>
        </p:nvSpPr>
        <p:spPr>
          <a:xfrm>
            <a:off x="1353312" y="42976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Business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3520440" y="4379976"/>
            <a:ext cx="237744" cy="237744"/>
          </a:xfrm>
          <a:prstGeom prst="ellipse">
            <a:avLst/>
          </a:prstGeom>
          <a:solidFill>
            <a:srgbClr val="F5B31E"/>
          </a:solidFill>
          <a:ln/>
        </p:spPr>
      </p:sp>
      <p:sp>
        <p:nvSpPr>
          <p:cNvPr id="19" name="Text 16"/>
          <p:cNvSpPr/>
          <p:nvPr/>
        </p:nvSpPr>
        <p:spPr>
          <a:xfrm>
            <a:off x="3867912" y="42976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WhatsApp</a:t>
            </a:r>
            <a:endParaRPr lang="en-US" sz="1150" dirty="0"/>
          </a:p>
        </p:txBody>
      </p:sp>
      <p:sp>
        <p:nvSpPr>
          <p:cNvPr id="22" name="Shape 19"/>
          <p:cNvSpPr/>
          <p:nvPr/>
        </p:nvSpPr>
        <p:spPr>
          <a:xfrm>
            <a:off x="3520440" y="5093208"/>
            <a:ext cx="237744" cy="237744"/>
          </a:xfrm>
          <a:prstGeom prst="ellipse">
            <a:avLst/>
          </a:prstGeom>
          <a:solidFill>
            <a:srgbClr val="F5B31E"/>
          </a:solidFill>
          <a:ln/>
        </p:spPr>
      </p:sp>
      <p:sp>
        <p:nvSpPr>
          <p:cNvPr id="23" name="Text 20"/>
          <p:cNvSpPr/>
          <p:nvPr/>
        </p:nvSpPr>
        <p:spPr>
          <a:xfrm>
            <a:off x="3867912" y="5010912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Push Notification Aplikasi</a:t>
            </a:r>
            <a:endParaRPr lang="en-US" sz="1150" dirty="0"/>
          </a:p>
        </p:txBody>
      </p:sp>
      <p:sp>
        <p:nvSpPr>
          <p:cNvPr id="24" name="Shape 21"/>
          <p:cNvSpPr/>
          <p:nvPr/>
        </p:nvSpPr>
        <p:spPr>
          <a:xfrm>
            <a:off x="6309360" y="1600200"/>
            <a:ext cx="5212080" cy="4343400"/>
          </a:xfrm>
          <a:prstGeom prst="roundRect">
            <a:avLst>
              <a:gd name="adj" fmla="val 2105"/>
            </a:avLst>
          </a:prstGeom>
          <a:solidFill>
            <a:srgbClr val="FBF4E4"/>
          </a:solidFill>
          <a:ln/>
          <a:effectLst>
            <a:outerShdw blurRad="101600" dist="38100" dir="5400000" algn="bl" rotWithShape="0">
              <a:srgbClr val="9AA0AD">
                <a:alpha val="14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6675120" y="1965960"/>
            <a:ext cx="640080" cy="640080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  <a:ln/>
        </p:spPr>
      </p:sp>
      <p:pic>
        <p:nvPicPr>
          <p:cNvPr id="2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39712" y="2130552"/>
            <a:ext cx="310896" cy="310896"/>
          </a:xfrm>
          <a:prstGeom prst="rect">
            <a:avLst/>
          </a:prstGeom>
        </p:spPr>
      </p:pic>
      <p:sp>
        <p:nvSpPr>
          <p:cNvPr id="27" name="Text 23"/>
          <p:cNvSpPr/>
          <p:nvPr/>
        </p:nvSpPr>
        <p:spPr>
          <a:xfrm>
            <a:off x="7452360" y="1984248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322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Offline</a:t>
            </a:r>
            <a:endParaRPr lang="en-US" sz="2200" dirty="0"/>
          </a:p>
        </p:txBody>
      </p:sp>
      <p:sp>
        <p:nvSpPr>
          <p:cNvPr id="28" name="Shape 24"/>
          <p:cNvSpPr/>
          <p:nvPr/>
        </p:nvSpPr>
        <p:spPr>
          <a:xfrm>
            <a:off x="6675120" y="2953512"/>
            <a:ext cx="237744" cy="237744"/>
          </a:xfrm>
          <a:prstGeom prst="ellipse">
            <a:avLst/>
          </a:prstGeom>
          <a:solidFill>
            <a:srgbClr val="F5B31E"/>
          </a:solidFill>
          <a:ln/>
        </p:spPr>
      </p:sp>
      <p:sp>
        <p:nvSpPr>
          <p:cNvPr id="29" name="Text 25"/>
          <p:cNvSpPr/>
          <p:nvPr/>
        </p:nvSpPr>
        <p:spPr>
          <a:xfrm>
            <a:off x="7022592" y="2871216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5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Poster</a:t>
            </a:r>
            <a:endParaRPr lang="en-US" sz="1300" dirty="0"/>
          </a:p>
        </p:txBody>
      </p:sp>
      <p:sp>
        <p:nvSpPr>
          <p:cNvPr id="30" name="Shape 26"/>
          <p:cNvSpPr/>
          <p:nvPr/>
        </p:nvSpPr>
        <p:spPr>
          <a:xfrm>
            <a:off x="6675120" y="3438144"/>
            <a:ext cx="237744" cy="237744"/>
          </a:xfrm>
          <a:prstGeom prst="ellipse">
            <a:avLst/>
          </a:prstGeom>
          <a:solidFill>
            <a:srgbClr val="F5B31E"/>
          </a:solidFill>
          <a:ln/>
        </p:spPr>
      </p:sp>
      <p:sp>
        <p:nvSpPr>
          <p:cNvPr id="31" name="Text 27"/>
          <p:cNvSpPr/>
          <p:nvPr/>
        </p:nvSpPr>
        <p:spPr>
          <a:xfrm>
            <a:off x="7022592" y="3355848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5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Banner &amp; Standing Banner</a:t>
            </a:r>
            <a:endParaRPr lang="en-US" sz="1300" dirty="0"/>
          </a:p>
        </p:txBody>
      </p:sp>
      <p:sp>
        <p:nvSpPr>
          <p:cNvPr id="32" name="Shape 28"/>
          <p:cNvSpPr/>
          <p:nvPr/>
        </p:nvSpPr>
        <p:spPr>
          <a:xfrm>
            <a:off x="6675120" y="3922776"/>
            <a:ext cx="237744" cy="237744"/>
          </a:xfrm>
          <a:prstGeom prst="ellipse">
            <a:avLst/>
          </a:prstGeom>
          <a:solidFill>
            <a:srgbClr val="F5B31E"/>
          </a:solidFill>
          <a:ln/>
        </p:spPr>
      </p:sp>
      <p:sp>
        <p:nvSpPr>
          <p:cNvPr id="33" name="Text 29"/>
          <p:cNvSpPr/>
          <p:nvPr/>
        </p:nvSpPr>
        <p:spPr>
          <a:xfrm>
            <a:off x="7022592" y="3840480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5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Kasir</a:t>
            </a:r>
            <a:endParaRPr lang="en-US" sz="1300" dirty="0"/>
          </a:p>
        </p:txBody>
      </p:sp>
      <p:sp>
        <p:nvSpPr>
          <p:cNvPr id="34" name="Shape 30"/>
          <p:cNvSpPr/>
          <p:nvPr/>
        </p:nvSpPr>
        <p:spPr>
          <a:xfrm>
            <a:off x="6675120" y="4407408"/>
            <a:ext cx="237744" cy="237744"/>
          </a:xfrm>
          <a:prstGeom prst="ellipse">
            <a:avLst/>
          </a:prstGeom>
          <a:solidFill>
            <a:srgbClr val="F5B31E"/>
          </a:solidFill>
          <a:ln/>
        </p:spPr>
      </p:sp>
      <p:sp>
        <p:nvSpPr>
          <p:cNvPr id="35" name="Text 31"/>
          <p:cNvSpPr/>
          <p:nvPr/>
        </p:nvSpPr>
        <p:spPr>
          <a:xfrm>
            <a:off x="7022592" y="4325112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5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Flyer</a:t>
            </a:r>
            <a:endParaRPr lang="en-US" sz="1300" dirty="0"/>
          </a:p>
        </p:txBody>
      </p:sp>
      <p:sp>
        <p:nvSpPr>
          <p:cNvPr id="37" name="Text 33"/>
          <p:cNvSpPr/>
          <p:nvPr/>
        </p:nvSpPr>
        <p:spPr>
          <a:xfrm>
            <a:off x="7022592" y="4809744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38" name="Shape 34"/>
          <p:cNvSpPr/>
          <p:nvPr/>
        </p:nvSpPr>
        <p:spPr>
          <a:xfrm>
            <a:off x="6675120" y="5376672"/>
            <a:ext cx="237744" cy="237744"/>
          </a:xfrm>
          <a:prstGeom prst="ellipse">
            <a:avLst/>
          </a:prstGeom>
          <a:solidFill>
            <a:srgbClr val="F5B31E"/>
          </a:solidFill>
          <a:ln/>
        </p:spPr>
      </p:sp>
      <p:sp>
        <p:nvSpPr>
          <p:cNvPr id="39" name="Text 35"/>
          <p:cNvSpPr/>
          <p:nvPr/>
        </p:nvSpPr>
        <p:spPr>
          <a:xfrm>
            <a:off x="7022592" y="5294376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5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Merchandise</a:t>
            </a:r>
            <a:endParaRPr lang="en-US" sz="1300" dirty="0"/>
          </a:p>
        </p:txBody>
      </p:sp>
      <p:sp>
        <p:nvSpPr>
          <p:cNvPr id="40" name="Text 36"/>
          <p:cNvSpPr/>
          <p:nvPr/>
        </p:nvSpPr>
        <p:spPr>
          <a:xfrm>
            <a:off x="10789920" y="63550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kern="0" spc="100" dirty="0">
                <a:solidFill>
                  <a:srgbClr val="132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RUANG</a:t>
            </a:r>
            <a:r>
              <a:rPr lang="en-US" sz="1300" b="1" kern="0" spc="100" dirty="0">
                <a:solidFill>
                  <a:srgbClr val="F5B3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PRINT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88A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BAB 5 — IMPLEMENTASI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322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Timeline Eksekusi Event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2697480" cy="3749040"/>
          </a:xfrm>
          <a:prstGeom prst="roundRect">
            <a:avLst>
              <a:gd name="adj" fmla="val 3390"/>
            </a:avLst>
          </a:prstGeom>
          <a:solidFill>
            <a:srgbClr val="13223F"/>
          </a:solidFill>
          <a:ln/>
          <a:effectLst>
            <a:outerShdw blurRad="101600" dist="38100" dir="5400000" algn="bl" rotWithShape="0">
              <a:srgbClr val="9AA0AD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531620" y="2331720"/>
            <a:ext cx="914400" cy="914400"/>
          </a:xfrm>
          <a:prstGeom prst="ellipse">
            <a:avLst/>
          </a:prstGeom>
          <a:solidFill>
            <a:srgbClr val="F5B31E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41932" y="2542032"/>
            <a:ext cx="493776" cy="49377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338328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kern="0" spc="150" dirty="0">
                <a:solidFill>
                  <a:srgbClr val="F5B3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FASE 1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640080" y="3630168"/>
            <a:ext cx="2697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Pra Event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1143000" y="4160520"/>
            <a:ext cx="1874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27000" indent="-1270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DCE4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Riset</a:t>
            </a:r>
            <a:endParaRPr lang="en-US" sz="1250" dirty="0"/>
          </a:p>
          <a:p>
            <a:pPr marL="127000" indent="-1270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DCE4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Brief &amp; Desain</a:t>
            </a:r>
            <a:endParaRPr lang="en-US" sz="1250" dirty="0"/>
          </a:p>
          <a:p>
            <a:pPr marL="127000" indent="-1270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DCE4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Produksi</a:t>
            </a:r>
            <a:endParaRPr lang="en-US" sz="1250" dirty="0"/>
          </a:p>
          <a:p>
            <a:pPr marL="127000" indent="-1270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DCE4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Approval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3483864" y="1965960"/>
            <a:ext cx="2697480" cy="3749040"/>
          </a:xfrm>
          <a:prstGeom prst="roundRect">
            <a:avLst>
              <a:gd name="adj" fmla="val 3390"/>
            </a:avLst>
          </a:prstGeom>
          <a:solidFill>
            <a:srgbClr val="FBF4E4"/>
          </a:solidFill>
          <a:ln/>
          <a:effectLst>
            <a:outerShdw blurRad="101600" dist="38100" dir="5400000" algn="bl" rotWithShape="0">
              <a:srgbClr val="9AA0AD">
                <a:alpha val="14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375404" y="2331720"/>
            <a:ext cx="914400" cy="914400"/>
          </a:xfrm>
          <a:prstGeom prst="ellipse">
            <a:avLst/>
          </a:prstGeom>
          <a:solidFill>
            <a:srgbClr val="F5B31E"/>
          </a:solidFill>
          <a:ln/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85716" y="2542032"/>
            <a:ext cx="493776" cy="49377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483864" y="338328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kern="0" spc="150" dirty="0">
                <a:solidFill>
                  <a:srgbClr val="C88A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FASE 2</a:t>
            </a:r>
            <a:endParaRPr lang="en-US" sz="1050" dirty="0"/>
          </a:p>
        </p:txBody>
      </p:sp>
      <p:sp>
        <p:nvSpPr>
          <p:cNvPr id="14" name="Text 10"/>
          <p:cNvSpPr/>
          <p:nvPr/>
        </p:nvSpPr>
        <p:spPr>
          <a:xfrm>
            <a:off x="3483864" y="3630168"/>
            <a:ext cx="2697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322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Launching</a:t>
            </a:r>
            <a:endParaRPr lang="en-US" sz="1800" dirty="0"/>
          </a:p>
        </p:txBody>
      </p:sp>
      <p:sp>
        <p:nvSpPr>
          <p:cNvPr id="15" name="Text 11"/>
          <p:cNvSpPr/>
          <p:nvPr/>
        </p:nvSpPr>
        <p:spPr>
          <a:xfrm>
            <a:off x="3986784" y="4160520"/>
            <a:ext cx="1874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27000" indent="-1270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B25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Publish Konten</a:t>
            </a:r>
            <a:endParaRPr lang="en-US" sz="1250" dirty="0"/>
          </a:p>
          <a:p>
            <a:pPr marL="127000" indent="-1270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B25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Ads</a:t>
            </a:r>
            <a:endParaRPr lang="en-US" sz="1250" dirty="0"/>
          </a:p>
          <a:p>
            <a:pPr marL="127000" indent="-1270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B25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Influencer</a:t>
            </a:r>
            <a:endParaRPr lang="en-US" sz="1250" dirty="0"/>
          </a:p>
          <a:p>
            <a:pPr marL="127000" indent="-1270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B25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Broadcast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6327648" y="1965960"/>
            <a:ext cx="2697480" cy="3749040"/>
          </a:xfrm>
          <a:prstGeom prst="roundRect">
            <a:avLst>
              <a:gd name="adj" fmla="val 3390"/>
            </a:avLst>
          </a:prstGeom>
          <a:solidFill>
            <a:srgbClr val="13223F"/>
          </a:solidFill>
          <a:ln/>
          <a:effectLst>
            <a:outerShdw blurRad="101600" dist="38100" dir="5400000" algn="bl" rotWithShape="0">
              <a:srgbClr val="9AA0AD">
                <a:alpha val="14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7219188" y="2331720"/>
            <a:ext cx="914400" cy="914400"/>
          </a:xfrm>
          <a:prstGeom prst="ellipse">
            <a:avLst/>
          </a:prstGeom>
          <a:solidFill>
            <a:srgbClr val="F5B31E"/>
          </a:solidFill>
          <a:ln/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29500" y="2542032"/>
            <a:ext cx="493776" cy="493776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327648" y="338328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kern="0" spc="150" dirty="0">
                <a:solidFill>
                  <a:srgbClr val="F5B3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FASE 3</a:t>
            </a:r>
            <a:endParaRPr lang="en-US" sz="1050" dirty="0"/>
          </a:p>
        </p:txBody>
      </p:sp>
      <p:sp>
        <p:nvSpPr>
          <p:cNvPr id="20" name="Text 15"/>
          <p:cNvSpPr/>
          <p:nvPr/>
        </p:nvSpPr>
        <p:spPr>
          <a:xfrm>
            <a:off x="6327648" y="3630168"/>
            <a:ext cx="2697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Pelaksanaan</a:t>
            </a:r>
            <a:endParaRPr lang="en-US" sz="1800" dirty="0"/>
          </a:p>
        </p:txBody>
      </p:sp>
      <p:sp>
        <p:nvSpPr>
          <p:cNvPr id="21" name="Text 16"/>
          <p:cNvSpPr/>
          <p:nvPr/>
        </p:nvSpPr>
        <p:spPr>
          <a:xfrm>
            <a:off x="6830568" y="4160520"/>
            <a:ext cx="1874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27000" indent="-1270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DCE4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Monitoring</a:t>
            </a:r>
            <a:endParaRPr lang="en-US" sz="1250" dirty="0"/>
          </a:p>
          <a:p>
            <a:pPr marL="127000" indent="-1270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DCE4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Dokumentasi</a:t>
            </a:r>
            <a:endParaRPr lang="en-US" sz="1250" dirty="0"/>
          </a:p>
          <a:p>
            <a:pPr marL="127000" indent="-1270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DCE4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Engagement</a:t>
            </a:r>
            <a:endParaRPr lang="en-US" sz="1250" dirty="0"/>
          </a:p>
          <a:p>
            <a:pPr marL="127000" indent="-1270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DCE4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Service</a:t>
            </a:r>
            <a:endParaRPr lang="en-US" sz="1250" dirty="0"/>
          </a:p>
        </p:txBody>
      </p:sp>
      <p:sp>
        <p:nvSpPr>
          <p:cNvPr id="22" name="Shape 17"/>
          <p:cNvSpPr/>
          <p:nvPr/>
        </p:nvSpPr>
        <p:spPr>
          <a:xfrm>
            <a:off x="9171432" y="1965960"/>
            <a:ext cx="2697480" cy="3749040"/>
          </a:xfrm>
          <a:prstGeom prst="roundRect">
            <a:avLst>
              <a:gd name="adj" fmla="val 3390"/>
            </a:avLst>
          </a:prstGeom>
          <a:solidFill>
            <a:srgbClr val="FBF4E4"/>
          </a:solidFill>
          <a:ln/>
          <a:effectLst>
            <a:outerShdw blurRad="101600" dist="38100" dir="5400000" algn="bl" rotWithShape="0">
              <a:srgbClr val="9AA0AD">
                <a:alpha val="14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10062972" y="2331720"/>
            <a:ext cx="914400" cy="914400"/>
          </a:xfrm>
          <a:prstGeom prst="ellipse">
            <a:avLst/>
          </a:prstGeom>
          <a:solidFill>
            <a:srgbClr val="F5B31E"/>
          </a:solidFill>
          <a:ln/>
        </p:spPr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73284" y="2542032"/>
            <a:ext cx="493776" cy="493776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9171432" y="338328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kern="0" spc="150" dirty="0">
                <a:solidFill>
                  <a:srgbClr val="C88A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FASE 4</a:t>
            </a:r>
            <a:endParaRPr lang="en-US" sz="1050" dirty="0"/>
          </a:p>
        </p:txBody>
      </p:sp>
      <p:sp>
        <p:nvSpPr>
          <p:cNvPr id="26" name="Text 20"/>
          <p:cNvSpPr/>
          <p:nvPr/>
        </p:nvSpPr>
        <p:spPr>
          <a:xfrm>
            <a:off x="9171432" y="3630168"/>
            <a:ext cx="2697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322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Evaluasi</a:t>
            </a:r>
            <a:endParaRPr lang="en-US" sz="1800" dirty="0"/>
          </a:p>
        </p:txBody>
      </p:sp>
      <p:sp>
        <p:nvSpPr>
          <p:cNvPr id="27" name="Text 21"/>
          <p:cNvSpPr/>
          <p:nvPr/>
        </p:nvSpPr>
        <p:spPr>
          <a:xfrm>
            <a:off x="9674352" y="4160520"/>
            <a:ext cx="1874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27000" indent="-1270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B25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Rekap Data</a:t>
            </a:r>
            <a:endParaRPr lang="en-US" sz="1250" dirty="0"/>
          </a:p>
          <a:p>
            <a:pPr marL="127000" indent="-1270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B25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KPI</a:t>
            </a:r>
            <a:endParaRPr lang="en-US" sz="1250" dirty="0"/>
          </a:p>
          <a:p>
            <a:pPr marL="127000" indent="-1270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B25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ROI</a:t>
            </a:r>
            <a:endParaRPr lang="en-US" sz="1250" dirty="0"/>
          </a:p>
          <a:p>
            <a:pPr marL="127000" indent="-1270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B25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Feedback</a:t>
            </a:r>
            <a:endParaRPr lang="en-US" sz="1250" dirty="0"/>
          </a:p>
        </p:txBody>
      </p:sp>
      <p:sp>
        <p:nvSpPr>
          <p:cNvPr id="28" name="Text 22"/>
          <p:cNvSpPr/>
          <p:nvPr/>
        </p:nvSpPr>
        <p:spPr>
          <a:xfrm>
            <a:off x="10789920" y="63550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kern="0" spc="100" dirty="0">
                <a:solidFill>
                  <a:srgbClr val="132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RUANG</a:t>
            </a:r>
            <a:r>
              <a:rPr lang="en-US" sz="1300" b="1" kern="0" spc="100" dirty="0">
                <a:solidFill>
                  <a:srgbClr val="F5B3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PRINT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322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5B3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BAB 7 — METODE EVALUASI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Kerangka KPI yang Diukur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2724912" cy="3977640"/>
          </a:xfrm>
          <a:prstGeom prst="roundRect">
            <a:avLst>
              <a:gd name="adj" fmla="val 3356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9AA0AD">
                <a:alpha val="2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60120" y="2103120"/>
            <a:ext cx="731520" cy="731520"/>
          </a:xfrm>
          <a:prstGeom prst="ellipse">
            <a:avLst/>
          </a:prstGeom>
          <a:solidFill>
            <a:srgbClr val="F4E9D0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1288" y="2304288"/>
            <a:ext cx="329184" cy="32918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60120" y="2971800"/>
            <a:ext cx="21762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322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KPI Marketing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005840" y="3520440"/>
            <a:ext cx="2039112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B25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Reach &amp; Impression</a:t>
            </a:r>
            <a:endParaRPr lang="en-US" sz="1250" dirty="0"/>
          </a:p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B25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Engagement Rate</a:t>
            </a:r>
            <a:endParaRPr lang="en-US" sz="1250" dirty="0"/>
          </a:p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B25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CTR &amp; CPM</a:t>
            </a:r>
            <a:endParaRPr lang="en-US" sz="1250" dirty="0"/>
          </a:p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B25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CPC · CPL · CPA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3502152" y="1737360"/>
            <a:ext cx="2724912" cy="3977640"/>
          </a:xfrm>
          <a:prstGeom prst="roundRect">
            <a:avLst>
              <a:gd name="adj" fmla="val 3356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9AA0AD">
                <a:alpha val="2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822192" y="2103120"/>
            <a:ext cx="731520" cy="731520"/>
          </a:xfrm>
          <a:prstGeom prst="ellipse">
            <a:avLst/>
          </a:prstGeom>
          <a:solidFill>
            <a:srgbClr val="F4E9D0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23360" y="2304288"/>
            <a:ext cx="329184" cy="32918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822192" y="2971800"/>
            <a:ext cx="21762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322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KPI Penjualan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3867912" y="3520440"/>
            <a:ext cx="2039112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B25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 Order &amp; Revenue</a:t>
            </a:r>
            <a:endParaRPr lang="en-US" sz="1250" dirty="0"/>
          </a:p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B25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Average Order Value</a:t>
            </a:r>
            <a:endParaRPr lang="en-US" sz="1250" dirty="0"/>
          </a:p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B25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Repeat Order</a:t>
            </a:r>
            <a:endParaRPr lang="en-US" sz="1250" dirty="0"/>
          </a:p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B25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Conversion Rate &amp; CAC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6364224" y="1737360"/>
            <a:ext cx="2724912" cy="3977640"/>
          </a:xfrm>
          <a:prstGeom prst="roundRect">
            <a:avLst>
              <a:gd name="adj" fmla="val 3356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9AA0AD">
                <a:alpha val="2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684264" y="2103120"/>
            <a:ext cx="731520" cy="731520"/>
          </a:xfrm>
          <a:prstGeom prst="ellipse">
            <a:avLst/>
          </a:prstGeom>
          <a:solidFill>
            <a:srgbClr val="F4E9D0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85432" y="2304288"/>
            <a:ext cx="329184" cy="32918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684264" y="2971800"/>
            <a:ext cx="21762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322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KPI Branding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6729984" y="3520440"/>
            <a:ext cx="2039112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B25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Followers &amp; Mention</a:t>
            </a:r>
            <a:endParaRPr lang="en-US" sz="1250" dirty="0"/>
          </a:p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B25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 &amp; UGC</a:t>
            </a:r>
            <a:endParaRPr lang="en-US" sz="1250" dirty="0"/>
          </a:p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B25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</a:t>
            </a:r>
            <a:endParaRPr lang="en-US" sz="1250" dirty="0"/>
          </a:p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B25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Rating Google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9226296" y="1737360"/>
            <a:ext cx="2724912" cy="3977640"/>
          </a:xfrm>
          <a:prstGeom prst="roundRect">
            <a:avLst>
              <a:gd name="adj" fmla="val 3356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9AA0AD">
                <a:alpha val="2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9546336" y="2103120"/>
            <a:ext cx="731520" cy="731520"/>
          </a:xfrm>
          <a:prstGeom prst="ellipse">
            <a:avLst/>
          </a:prstGeom>
          <a:solidFill>
            <a:srgbClr val="F4E9D0"/>
          </a:solidFill>
          <a:ln/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47504" y="2304288"/>
            <a:ext cx="329184" cy="32918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546336" y="2971800"/>
            <a:ext cx="21762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322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KPI Aplikasi</a:t>
            </a:r>
            <a:endParaRPr lang="en-US" sz="1600" dirty="0"/>
          </a:p>
        </p:txBody>
      </p:sp>
      <p:sp>
        <p:nvSpPr>
          <p:cNvPr id="23" name="Text 17"/>
          <p:cNvSpPr/>
          <p:nvPr/>
        </p:nvSpPr>
        <p:spPr>
          <a:xfrm>
            <a:off x="9592056" y="3520440"/>
            <a:ext cx="2039112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B25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Download &amp; Install</a:t>
            </a:r>
            <a:endParaRPr lang="en-US" sz="1250" dirty="0"/>
          </a:p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B25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Active User (DAU/MAU)</a:t>
            </a:r>
            <a:endParaRPr lang="en-US" sz="1250" dirty="0"/>
          </a:p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B25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Registrasi &amp; Login</a:t>
            </a:r>
            <a:endParaRPr lang="en-US" sz="1250" dirty="0"/>
          </a:p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B25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Install → Order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322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4114800" cy="4114800"/>
          </a:xfrm>
          <a:prstGeom prst="ellipse">
            <a:avLst/>
          </a:prstGeom>
          <a:solidFill>
            <a:srgbClr val="1E3A6B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4114800"/>
            <a:ext cx="3657600" cy="3657600"/>
          </a:xfrm>
          <a:prstGeom prst="ellipse">
            <a:avLst/>
          </a:prstGeom>
          <a:solidFill>
            <a:srgbClr val="F5B31E">
              <a:alpha val="2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394960" y="1234440"/>
            <a:ext cx="1417320" cy="1417320"/>
          </a:xfrm>
          <a:prstGeom prst="ellipse">
            <a:avLst/>
          </a:prstGeom>
          <a:solidFill>
            <a:srgbClr val="F5B31E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42432" y="1581912"/>
            <a:ext cx="731520" cy="7315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14400" y="2788920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Siap Dieksekusi</a:t>
            </a:r>
            <a:endParaRPr lang="en-US" sz="4400" dirty="0"/>
          </a:p>
        </p:txBody>
      </p:sp>
      <p:sp>
        <p:nvSpPr>
          <p:cNvPr id="7" name="Text 4"/>
          <p:cNvSpPr/>
          <p:nvPr/>
        </p:nvSpPr>
        <p:spPr>
          <a:xfrm>
            <a:off x="2194560" y="365760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2200"/>
              </a:lnSpc>
              <a:buNone/>
            </a:pPr>
            <a:r>
              <a:rPr lang="en-US" sz="1500" dirty="0">
                <a:solidFill>
                  <a:srgbClr val="C7D2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Riset ini menjadi dasar keputusan event yang terukur — memprioritaskan yang berdampak, mengeliminasi yang tidak efektif.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4937760" y="4709160"/>
            <a:ext cx="2286000" cy="0"/>
          </a:xfrm>
          <a:prstGeom prst="line">
            <a:avLst/>
          </a:prstGeom>
          <a:noFill/>
          <a:ln w="25400">
            <a:solidFill>
              <a:srgbClr val="F5B31E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914400" y="489204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Falka Derizqia  •  Anggi Awangsyah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914400" y="5257800"/>
            <a:ext cx="1033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FA0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Divisi Marketing Communication — Ruangprint 2026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394960" y="61264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kern="0" spc="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RUANG</a:t>
            </a:r>
            <a:r>
              <a:rPr lang="en-US" sz="1300" b="1" kern="0" spc="100" dirty="0">
                <a:solidFill>
                  <a:srgbClr val="F5B3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PRINT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783</Words>
  <Application>Microsoft Office PowerPoint</Application>
  <PresentationFormat>Widescreen</PresentationFormat>
  <Paragraphs>245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Proposal Riset Event Marketing Ruangprint 2026</dc:title>
  <dc:subject>PptxGenJS Presentation</dc:subject>
  <dc:creator>Falka Derizqia &amp; Anggi Awangsyah</dc:creator>
  <cp:lastModifiedBy>falka de rizqi</cp:lastModifiedBy>
  <cp:revision>2</cp:revision>
  <dcterms:created xsi:type="dcterms:W3CDTF">2026-07-09T02:26:28Z</dcterms:created>
  <dcterms:modified xsi:type="dcterms:W3CDTF">2026-07-09T03:19:55Z</dcterms:modified>
</cp:coreProperties>
</file>